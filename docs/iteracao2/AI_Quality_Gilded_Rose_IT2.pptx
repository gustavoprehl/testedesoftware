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embeddedFontLst>
    <p:embeddedFont>
      <p:font typeface="Play"/>
      <p:regular r:id="rId28"/>
      <p:bold r:id="rId27"/>
    </p:embeddedFont>
    <p:embeddedFont>
      <p:font typeface="Inter"/>
      <p:regular r:id="rId26"/>
      <p:bold r:id="rId23"/>
      <p:italic r:id="rId25"/>
      <p:boldItalic r:id="rId24"/>
    </p:embeddedFont>
    <p:embeddedFont>
      <p:font typeface="Rajdhani"/>
      <p:regular r:id="rId30"/>
      <p:bold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teração 1" id="{6d62095d-bbb5-ac8e-4534-ab56885a893d}">
          <p14:sldIdLst>
            <p14:sldId id="256"/>
            <p14:sldId id="257"/>
            <p14:sldId id="258"/>
            <p14:sldId id="259"/>
          </p14:sldIdLst>
        </p14:section>
        <p14:section name="Iteração 2 — Análise de fluxo" id="{5f4fb905-ee97-81ab-6d3b-9eac3eae368c}">
          <p14:sldIdLst>
            <p14:sldId id="260"/>
            <p14:sldId id="261"/>
            <p14:sldId id="262"/>
          </p14:sldIdLst>
        </p14:section>
        <p14:section name="Iteração 2 — Evolução do prompt" id="{1b80c9da-c072-b3ca-e43b-b30685bb9edc}">
          <p14:sldIdLst>
            <p14:sldId id="263"/>
          </p14:sldIdLst>
        </p14:section>
        <p14:section name="Iteração 2 — Auditoria IA × grafo" id="{40b93f9b-f775-0302-481c-7c23b1f16b6f}">
          <p14:sldIdLst>
            <p14:sldId id="264"/>
            <p14:sldId id="265"/>
            <p14:sldId id="266"/>
            <p14:sldId id="267"/>
          </p14:sldIdLst>
        </p14:section>
        <p14:section name="Fechamento" id="{487ff9cc-eb43-996e-51b6-66e70ffaec6b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font" Target="fonts/Inter-bold.fntdata"/><Relationship Id="rId24" Type="http://schemas.openxmlformats.org/officeDocument/2006/relationships/font" Target="fonts/Inter-boldItalic.fntdata"/><Relationship Id="rId25" Type="http://schemas.openxmlformats.org/officeDocument/2006/relationships/font" Target="fonts/Inter-italic.fntdata"/><Relationship Id="rId26" Type="http://schemas.openxmlformats.org/officeDocument/2006/relationships/font" Target="fonts/Inter-regular.fntdata"/><Relationship Id="rId27" Type="http://schemas.openxmlformats.org/officeDocument/2006/relationships/font" Target="fonts/Play-bold.fntdata"/><Relationship Id="rId28" Type="http://schemas.openxmlformats.org/officeDocument/2006/relationships/font" Target="fonts/Play-regular.fntdata"/><Relationship Id="rId29" Type="http://schemas.openxmlformats.org/officeDocument/2006/relationships/font" Target="fonts/Rajdhani-bold.fntdata"/><Relationship Id="rId30" Type="http://schemas.openxmlformats.org/officeDocument/2006/relationships/font" Target="fonts/Rajdhani-regular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94D6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94D6A"/>
                </a:solidFill>
                <a:latin typeface="+mn-lt"/>
              </a:rPr>
              <a:t>Cobertura de decisão (%) — eixo a partir de 80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 de decisão (%)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7AE6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Direto</c:v>
                  </c:pt>
                  <c:pt idx="1">
                    <c:v>Chain-of-Thought</c:v>
                  </c:pt>
                  <c:pt idx="2">
                    <c:v>Persona Pattern</c:v>
                  </c:pt>
                  <c:pt idx="3">
                    <c:v>Spec-driven</c:v>
                  </c:pt>
                  <c:pt idx="4">
                    <c:v>Few-shot</c:v>
                  </c:pt>
                  <c:pt idx="5">
                    <c:v>Estruturado (It. 2)</c:v>
                  </c:pt>
                  <c:pt idx="6">
                    <c:v>Manual M1–M8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91.2</c:v>
                </c:pt>
                <c:pt idx="1">
                  <c:v>94.1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2283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b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trabalho em duas partes: o que a IA gerou na Iteração 1 e a análise estrutural (caixa branca) da Iteração 2, que confronta a IA com o grafo.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o ChatGPT foi usado nas duas iterações: a comparação isola o efeito do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Iteração 1 já apresentada: passar rápido. Mensagem: todas passam com 100% de statement, mas a cobertura de decisão separa as suítes. CoT cai de 2º para 4º. Few-shot alucinou API (é a alucinação do quadro final).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 Iteração 1 com a pergunta que a Iteração 2 responde. Conjured volta no veredito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docs/iteracao2/analise-estrutural.md e cfg.md. Os else não são decisões novas: são as arestas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Conferência de E: 17 nós de decisão com 2 saídas (34) + 11 nós sequenciais com 1 saída (11) = 45. Os 18 caminhos estão em cfg.md, seção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8 casos foram derivados dos caminhos independentes: 10 caminhos da base eram necessários, e duas fusões (M2 = C3 + C14, M5 = C7 + C18) reduziram para 8. Executados numa cópia instrumentada: 34/34.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completo em docs/iteracao2/prompt-iteracao2.txt; resposta literal em resposta-ia-iteracao2.md; link da conversa no prompt-estruturado.md.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Medidor _decisioncov: cópia instrumentada de UpdateQuality com um marcador em cada lado de D1–D17, rodada numa pasta temporária. Enumeração: 4 tipos de item × SellIn −5..15 × Quality −5..85 = 7.644 entradas, 259.896 comparações.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Pela dica do enunciado, as falhas são resultado: 100% de decisão não é 100% de caminhos, e o oráculo de caracterização aceita o estado inválido de Sulfuras, o mesmo padrão do Chain-of-Thought na Iteração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suítes medidas com o mesmo instrumento: go run ./_decisioncov ./prompt_tests/...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quadro exigido no item 3 do enunciado, com as mesmas linhas e colunas. Todos os percentuais vêm do mesmo medidor.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AI Quality — O Desafio Gilded Rose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E276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cao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" name="Decoracao"/>
          <p:cNvSpPr/>
          <p:nvPr/>
        </p:nvSpPr>
        <p:spPr>
          <a:xfrm>
            <a:off x="9692640" y="4206240"/>
            <a:ext cx="3291840" cy="3291840"/>
          </a:xfrm>
          <a:prstGeom prst="ellipse">
            <a:avLst/>
          </a:prstGeom>
          <a:solidFill>
            <a:srgbClr val="E3EC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C7293"/>
                </a:solidFill>
              </a:rPr>
              <a:t>AI QUALITY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</a:rPr>
              <a:t>O Desafio Gilded Rose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94D6A"/>
                </a:solidFill>
              </a:rPr>
              <a:t>Testes unitários gerados por IA sob auditoria: cinco técnicas de prompt na Iteração 1 e um prompt estruturado, guiado pelo grafo de fluxo de controle, na Iteração 2.</a:t>
            </a:r>
            <a:endParaRPr lang="en-US" sz="1900" dirty="0"/>
          </a:p>
        </p:txBody>
      </p:sp>
      <p:sp>
        <p:nvSpPr>
          <p:cNvPr id="7" name="Etiqueta"/>
          <p:cNvSpPr/>
          <p:nvPr/>
        </p:nvSpPr>
        <p:spPr>
          <a:xfrm>
            <a:off x="640080" y="4160520"/>
            <a:ext cx="512064" cy="384048"/>
          </a:xfrm>
          <a:prstGeom prst="roundRect">
            <a:avLst>
              <a:gd name="adj" fmla="val 14286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4160520"/>
            <a:ext cx="512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Go</a:t>
            </a:r>
            <a:endParaRPr lang="en-US" sz="1400" dirty="0"/>
          </a:p>
        </p:txBody>
      </p:sp>
      <p:sp>
        <p:nvSpPr>
          <p:cNvPr id="9" name="Etiqueta"/>
          <p:cNvSpPr/>
          <p:nvPr/>
        </p:nvSpPr>
        <p:spPr>
          <a:xfrm>
            <a:off x="1289304" y="4160520"/>
            <a:ext cx="992124" cy="384048"/>
          </a:xfrm>
          <a:prstGeom prst="roundRect">
            <a:avLst>
              <a:gd name="adj" fmla="val 14286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89304" y="4160520"/>
            <a:ext cx="9921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ChatGPT</a:t>
            </a:r>
            <a:endParaRPr lang="en-US" sz="1400" dirty="0"/>
          </a:p>
        </p:txBody>
      </p:sp>
      <p:sp>
        <p:nvSpPr>
          <p:cNvPr id="11" name="Etiqueta"/>
          <p:cNvSpPr/>
          <p:nvPr/>
        </p:nvSpPr>
        <p:spPr>
          <a:xfrm>
            <a:off x="2418588" y="4160520"/>
            <a:ext cx="1856232" cy="384048"/>
          </a:xfrm>
          <a:prstGeom prst="roundRect">
            <a:avLst>
              <a:gd name="adj" fmla="val 14286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18588" y="4160520"/>
            <a:ext cx="1856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Gilded Rose Kata</a:t>
            </a:r>
            <a:endParaRPr lang="en-US" sz="1400" dirty="0"/>
          </a:p>
        </p:txBody>
      </p:sp>
      <p:sp>
        <p:nvSpPr>
          <p:cNvPr id="13" name="Etiqueta"/>
          <p:cNvSpPr/>
          <p:nvPr/>
        </p:nvSpPr>
        <p:spPr>
          <a:xfrm>
            <a:off x="4411980" y="4160520"/>
            <a:ext cx="1760220" cy="384048"/>
          </a:xfrm>
          <a:prstGeom prst="roundRect">
            <a:avLst>
              <a:gd name="adj" fmla="val 14286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11980" y="4160520"/>
            <a:ext cx="17602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CFG · V(G) = 18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77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22831"/>
                </a:solidFill>
              </a:rPr>
              <a:t>Arthur Lara Panzera  •  Albert Luis  •  Diogo Caribe  •  Felipe Augusto Pereira  •  Gabriel Reis Lebron  •  Gustavo Azi Prehl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Setup do experimento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2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106372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</a:rPr>
              <a:t>Iteração 1: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22831"/>
                </a:solidFill>
              </a:rPr>
              <a:t>técnicas diferentes de prompt mudam a qualidade dos testes gerados por IA?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</a:rPr>
              <a:t>Iteração 2: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22831"/>
                </a:solidFill>
              </a:rPr>
              <a:t>com acesso à estrutura interna (CFG), a IA percorre todos os caminhos ou só “arranha a superfície”?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</a:rPr>
              <a:t>Configuração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6035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976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Linguagem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831"/>
                          </a:solidFill>
                        </a:rPr>
                        <a:t>Go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LLM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831"/>
                          </a:solidFill>
                        </a:rPr>
                        <a:t>ChatGPT — a mesma nas duas iterações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Kata base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831"/>
                          </a:solidFill>
                        </a:rPr>
                        <a:t>Gilded Rose (Emily Bache)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Função analisada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831"/>
                          </a:solidFill>
                        </a:rPr>
                        <a:t>UpdateQuality(items []*Item)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</a:rPr>
                        <a:t>Repositório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831"/>
                          </a:solidFill>
                        </a:rPr>
                        <a:t>github.com/gustavoprehl/TesteDeSoftware</a:t>
                      </a:r>
                      <a:endParaRPr 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99516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</a:rPr>
              <a:t>Estrutura da equipe</a:t>
            </a:r>
            <a:endParaRPr lang="en-US" sz="2100" dirty="0"/>
          </a:p>
        </p:txBody>
      </p:sp>
      <p:sp>
        <p:nvSpPr>
          <p:cNvPr id="10" name="Card"/>
          <p:cNvSpPr/>
          <p:nvPr/>
        </p:nvSpPr>
        <p:spPr>
          <a:xfrm>
            <a:off x="6995160" y="2971800"/>
            <a:ext cx="4645152" cy="640080"/>
          </a:xfrm>
          <a:prstGeom prst="roundRect">
            <a:avLst>
              <a:gd name="adj" fmla="val 11429"/>
            </a:avLst>
          </a:prstGeom>
          <a:solidFill>
            <a:srgbClr val="F2F5F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178040" y="3035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Dupla 1 · Engenharia de Prompt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3300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Testar e documentar as técnicas de prompt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995160" y="3721608"/>
            <a:ext cx="4645152" cy="640080"/>
          </a:xfrm>
          <a:prstGeom prst="roundRect">
            <a:avLst>
              <a:gd name="adj" fmla="val 11429"/>
            </a:avLst>
          </a:prstGeom>
          <a:solidFill>
            <a:srgbClr val="F2F5F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178040" y="378561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Dupla 2 · Implementação em Go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178040" y="405079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Integrar testes, corrigir erros, capturar evidências</a:t>
            </a:r>
            <a:endParaRPr lang="en-US" sz="1300" dirty="0"/>
          </a:p>
        </p:txBody>
      </p:sp>
      <p:sp>
        <p:nvSpPr>
          <p:cNvPr id="16" name="Card"/>
          <p:cNvSpPr/>
          <p:nvPr/>
        </p:nvSpPr>
        <p:spPr>
          <a:xfrm>
            <a:off x="6995160" y="4471416"/>
            <a:ext cx="4645152" cy="640080"/>
          </a:xfrm>
          <a:prstGeom prst="roundRect">
            <a:avLst>
              <a:gd name="adj" fmla="val 11429"/>
            </a:avLst>
          </a:prstGeom>
          <a:solidFill>
            <a:srgbClr val="F2F5F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78040" y="453542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</a:rPr>
              <a:t>Dupla 3 · Auditoria &amp; Análise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178040" y="48006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Auditar cobertura, escrever veredito, montar slides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548640" y="54406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AF3E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54406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Variável controlada: </a:t>
            </a:r>
            <a:pPr indent="0" marL="0">
              <a:buNone/>
            </a:pPr>
            <a:r>
              <a:rPr lang="en-US" sz="1600" dirty="0">
                <a:solidFill>
                  <a:srgbClr val="222831"/>
                </a:solidFill>
              </a:rPr>
              <a:t>a LLM é a mesma (ChatGPT) nas duas iterações. Entre a Iteração 1 e a Iteração 2, muda só o prompt.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Iteração 1 em resumo: 5 técnicas, 123 testes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3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325880"/>
            <a:ext cx="26334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2588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17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4173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decisões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1755648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em UpdateQuality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3364992" y="1325880"/>
            <a:ext cx="26334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9584" y="132588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123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14173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testes gerados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62272" y="1755648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13 + 27 + 36 + 24 + 23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181344" y="1325880"/>
            <a:ext cx="26334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32588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0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278624" y="14173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FAIL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278624" y="1755648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após a correção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8997696" y="1325880"/>
            <a:ext cx="26334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62288" y="132588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100%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10094976" y="14173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de statement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94976" y="1755648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em todas as suítes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11094415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691640"/>
                <a:gridCol w="2240280"/>
                <a:gridCol w="731520"/>
                <a:gridCol w="1325880"/>
                <a:gridCol w="868680"/>
                <a:gridCol w="36393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Técnica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Como pedimos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Compilou?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Decisão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Observação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1º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2831"/>
                          </a:solidFill>
                        </a:rPr>
                        <a:t>Persona Pattern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Papel de QA sênior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36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Sim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Sem alucinação; único com slice nil e vazio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2º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2831"/>
                          </a:solidFill>
                        </a:rPr>
                        <a:t>Spec-driven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Regras de negócio no preâmbulo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23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Sim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Afirmou que 3 testes falhariam; eles passam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3º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2831"/>
                          </a:solidFill>
                        </a:rPr>
                        <a:t>Few-shot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Exemplo AAA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24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Não → corrigido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Inventou GildedRose{} e *testing.t; 24 PASS sem mudar asserção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4º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2831"/>
                          </a:solidFill>
                        </a:rPr>
                        <a:t>Chain-of-Thought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Raciocínio passo a passo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27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Sim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</a:rPr>
                        <a:t>94,1%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Faltam D15F e D17F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5º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22831"/>
                          </a:solidFill>
                        </a:rPr>
                        <a:t>Direto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Só o código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13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Sim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</a:rPr>
                        <a:t>91,2%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Faltam D15F, D16F e D17F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3492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761"/>
                </a:solidFill>
              </a:rPr>
              <a:t>Ranking pela cobertura de decisão medida na Iteração 2; no empate, compilar sem correção e não alucinar.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A6472"/>
                </a:solidFill>
              </a:rPr>
              <a:t>Antes da medição o ranking era Persona &gt; CoT &gt; Spec-driven &gt; Direto &gt; Few-shot.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5A6472"/>
                </a:solidFill>
              </a:rPr>
              <a:t>Teste = cenário executável. O runner reporta 131 porque também conta as 8 funções que só agrupam testes (4 do CoT e 4 da Persona).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1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Achados e veredito da Iteração 1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4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3258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BEAEA"/>
          </a:solidFill>
          <a:ln w="12700">
            <a:solidFill>
              <a:srgbClr val="F2CF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Falso positivo: </a:t>
            </a:r>
            <a:pPr indent="0" marL="0">
              <a:buNone/>
            </a:pPr>
            <a:r>
              <a:rPr lang="en-US" sz="1700" b="1" dirty="0">
                <a:solidFill>
                  <a:srgbClr val="222831"/>
                </a:solidFill>
              </a:rPr>
              <a:t>100% de cobertura de statement não significa 100% das regras de negócio testadas.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0392B"/>
                </a:solidFill>
              </a:rPr>
              <a:t>Achado crítico: Conjured não foi testado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8716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Nenhuma suíte testa Conjured; o código não tem ramo para ele.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56692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920240"/>
                <a:gridCol w="192024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Esperado (spec)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Atual (código)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3, Q 6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2, Q 4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2, Q 5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0, Q 6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-1, Q 2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-1, Q 4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0, Q 3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-1, Q 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SellIn -1, Q 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2CF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455371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Regra esperada: −2/dia antes da venda, −4/dia depois, nunca abaixo de 0. Os 3 testes manuais de Conjured falham de propósito.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2103120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Outros achados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25603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Direto e CoT deixam vencimentos sem teste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2807208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comum com Q = 0, Sulfuras vencido, Brie com Q = 50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3090672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Few-shot e Spec-driven alucinaram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33756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API inventada e falhas que não ocorrem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3621024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Oráculo derivado do código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867912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os testes herdaram a omissão de Conjured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4151376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Sulfuras = 100 aceito pelo CoT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439826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a spec fixa Sulfuras em 80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29400" y="468172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Uma chamada por teste; item nil sem teste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629400" y="4928616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nenhuma trajetória de vários dias</a:t>
            </a:r>
            <a:endParaRPr lang="en-US" sz="1200" dirty="0"/>
          </a:p>
        </p:txBody>
      </p:sp>
      <p:sp>
        <p:nvSpPr>
          <p:cNvPr id="22" name="Card"/>
          <p:cNvSpPr/>
          <p:nvPr/>
        </p:nvSpPr>
        <p:spPr>
          <a:xfrm>
            <a:off x="548640" y="5349240"/>
            <a:ext cx="11094415" cy="749808"/>
          </a:xfrm>
          <a:prstGeom prst="roundRect">
            <a:avLst>
              <a:gd name="adj" fmla="val 9756"/>
            </a:avLst>
          </a:prstGeom>
          <a:solidFill>
            <a:srgbClr val="F2F5F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5349240"/>
            <a:ext cx="106372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Pergunta para a Iteração 2: </a:t>
            </a:r>
            <a:pPr indent="0" marL="0">
              <a:buNone/>
            </a:pPr>
            <a:r>
              <a:rPr lang="en-US" sz="1500" dirty="0">
                <a:solidFill>
                  <a:srgbClr val="222831"/>
                </a:solidFill>
              </a:rPr>
              <a:t>statement coverage não separa as suítes. Precisamos de um critério que olhe os dois lados de cada decisão e de um prompt que dê essa estrutura à IA.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ANÁLISE DE FLUXO (CFG)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Grafo de Fluxo de Controle de UpdateQuality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5</a:t>
            </a:r>
            <a:endParaRPr lang="en-US" sz="1400" dirty="0"/>
          </a:p>
        </p:txBody>
      </p:sp>
      <p:pic>
        <p:nvPicPr>
          <p:cNvPr id="5" name="CFG" descr="C:\Users\gusta\AppData\Local\Temp\claude\c--Users-gusta-Documents-PUC-TesteDeSoftware-TesteDeSoftware\09bfd03c-76c7-4b8c-8692-e413f11554ba\scratchpad\build\media\image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229600" cy="3526358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9006840" y="1371600"/>
            <a:ext cx="2633472" cy="777240"/>
          </a:xfrm>
          <a:prstGeom prst="roundRect">
            <a:avLst>
              <a:gd name="adj" fmla="val 9412"/>
            </a:avLst>
          </a:prstGeom>
          <a:solidFill>
            <a:srgbClr val="F2F5F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0" y="13716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29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0012680" y="146304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nós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012680" y="1773936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</a:rPr>
              <a:t>B1–B29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9006840" y="2258568"/>
            <a:ext cx="2633472" cy="777240"/>
          </a:xfrm>
          <a:prstGeom prst="roundRect">
            <a:avLst>
              <a:gd name="adj" fmla="val 9412"/>
            </a:avLst>
          </a:prstGeom>
          <a:solidFill>
            <a:srgbClr val="F2F5F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0" y="225856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45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0012680" y="2350008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arestas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012680" y="2660904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</a:rPr>
              <a:t>34 de decisão + 11 sequenciais</a:t>
            </a:r>
            <a:endParaRPr lang="en-US" sz="1100" dirty="0"/>
          </a:p>
        </p:txBody>
      </p:sp>
      <p:sp>
        <p:nvSpPr>
          <p:cNvPr id="14" name="Card"/>
          <p:cNvSpPr/>
          <p:nvPr/>
        </p:nvSpPr>
        <p:spPr>
          <a:xfrm>
            <a:off x="9006840" y="3145536"/>
            <a:ext cx="2633472" cy="777240"/>
          </a:xfrm>
          <a:prstGeom prst="roundRect">
            <a:avLst>
              <a:gd name="adj" fmla="val 9412"/>
            </a:avLst>
          </a:prstGeom>
          <a:solidFill>
            <a:srgbClr val="F2F5F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0" y="3145536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17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0012680" y="3236976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decisões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0012680" y="3547872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</a:rPr>
              <a:t>D1–D17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9006840" y="4032504"/>
            <a:ext cx="2633472" cy="777240"/>
          </a:xfrm>
          <a:prstGeom prst="roundRect">
            <a:avLst>
              <a:gd name="adj" fmla="val 9412"/>
            </a:avLst>
          </a:prstGeom>
          <a:solidFill>
            <a:srgbClr val="F2F5F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144000" y="4032504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</a:rPr>
              <a:t>34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0012680" y="4123944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ramos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0012680" y="4434840"/>
            <a:ext cx="16002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</a:rPr>
              <a:t>17 decisões × 2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761"/>
                </a:solidFill>
              </a:rPr>
              <a:t>Granularidade: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22831"/>
                </a:solidFill>
              </a:rPr>
              <a:t>cada expressão condicional completa é uma decisão; a condição composta da linha 11 (A &amp;&amp; B) é um único nó (D2), com o curto-circuito documentado à parte.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E2761"/>
                </a:solidFill>
              </a:rPr>
              <a:t>Escopo: </a:t>
            </a:r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22831"/>
                </a:solidFill>
              </a:rPr>
              <a:t>fluxo normal com itens válidos; o panic de um item nil não vira aresta.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ANÁLISE DE FLUXO (CFG)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Complexidade ciclomática e caminhos independentes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6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4173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5270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A6472"/>
                </a:solidFill>
              </a:rPr>
              <a:t>Pelos nós predicados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562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V(G) = P + 1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134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17 + 1 = 18</a:t>
            </a:r>
            <a:endParaRPr lang="en-US" sz="2200" dirty="0"/>
          </a:p>
        </p:txBody>
      </p:sp>
      <p:sp>
        <p:nvSpPr>
          <p:cNvPr id="9" name="Card"/>
          <p:cNvSpPr/>
          <p:nvPr/>
        </p:nvSpPr>
        <p:spPr>
          <a:xfrm>
            <a:off x="548640" y="301752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272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A6472"/>
                </a:solidFill>
              </a:rPr>
              <a:t>Por arestas e nós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5643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V(G) = E − N + 2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136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C7293"/>
                </a:solidFill>
              </a:rPr>
              <a:t>45 − 29 + 2 = 18</a:t>
            </a:r>
            <a:endParaRPr lang="en-US" sz="2200" dirty="0"/>
          </a:p>
        </p:txBody>
      </p:sp>
      <p:sp>
        <p:nvSpPr>
          <p:cNvPr id="13" name="Card"/>
          <p:cNvSpPr/>
          <p:nvPr/>
        </p:nvSpPr>
        <p:spPr>
          <a:xfrm>
            <a:off x="548640" y="466344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AF3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831"/>
                </a:solidFill>
              </a:rPr>
              <a:t>As duas fórmulas convergem: V(G) = 18 caminhos linearmente independentes, o tamanho de uma base para cobertura de caminhos.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417320"/>
          <a:ext cx="3383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965960"/>
                <a:gridCol w="86868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Saída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lista vazia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5,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4, 9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5,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4, 0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Sulfuras, 5, 80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5, 80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C5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Sulfuras, 5,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5, 0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C6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5,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4, 11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C7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5,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4, 50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15,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14, 11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8,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7, 12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7032" y="1417320"/>
          <a:ext cx="3383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965960"/>
                <a:gridCol w="86868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Saída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8, 49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7, 50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3,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2, 13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3, 49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2, 50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0,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0, 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C15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Sulfuras, -1, 80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-1, 80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C16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0,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C17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0,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-1, 12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C18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0, 49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709160" y="58064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</a:rPr>
              <a:t>Entrada = (item, SellIn, Quality) · Saída = (SellIn, Quality)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ANÁLISE DE FLUXO (CFG)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Critério escolhido e proposição manual: 8 casos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7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3593592" cy="1005840"/>
          </a:xfrm>
          <a:prstGeom prst="roundRect">
            <a:avLst>
              <a:gd name="adj" fmla="val 7273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26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A6472"/>
                </a:solidFill>
              </a:rPr>
              <a:t>Comandos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Toda linha executada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Iteração 1: 100% em todas as suítes.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297680" y="1371600"/>
            <a:ext cx="3593592" cy="1005840"/>
          </a:xfrm>
          <a:prstGeom prst="roundRect">
            <a:avLst>
              <a:gd name="adj" fmla="val 7273"/>
            </a:avLst>
          </a:prstGeom>
          <a:solidFill>
            <a:srgbClr val="EAF3E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1426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Decisão (escolhido)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Cada decisão True e False: 34 ramos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Mínimo: 8 casos. É a linha do quadro final.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046720" y="1371600"/>
            <a:ext cx="3593592" cy="1005840"/>
          </a:xfrm>
          <a:prstGeom prst="roundRect">
            <a:avLst>
              <a:gd name="adj" fmla="val 7273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0" y="14264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A6472"/>
                </a:solidFill>
              </a:rPr>
              <a:t>Caminhos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22831"/>
                </a:solidFill>
              </a:rPr>
              <a:t>Base de V(G): 18 caminhos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</a:rPr>
              <a:t>18 casos. Mais forte e mais caro.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74980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463040"/>
                <a:gridCol w="1691640"/>
                <a:gridCol w="109728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Caso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Item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Entrada (SellIn, Q)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Saída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Ramos que só ele cobre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Comum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0, 10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-1, 8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D4T, D16T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M2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Comum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0, 0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D3F, D15F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M3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Sulfuras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-1, 80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-1, 80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D4F, D11F, D16F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M4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Aged Brie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0, 10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-1, 12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D6F, D17T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M5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Aged Brie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0, 50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-1, 50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D5F, D17F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M6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Backstage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15, 10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14, 11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D7F, D9F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M7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Backstage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3, 49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2, 50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D8F, D10F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M8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Backstage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0, 10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7293"/>
                          </a:solidFill>
                        </a:rPr>
                        <a:t>D8T, D10T, D14F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8" name="Card"/>
          <p:cNvSpPr/>
          <p:nvPr/>
        </p:nvSpPr>
        <p:spPr>
          <a:xfrm>
            <a:off x="8366760" y="2606040"/>
            <a:ext cx="3273552" cy="3474720"/>
          </a:xfrm>
          <a:prstGeom prst="roundRect">
            <a:avLst>
              <a:gd name="adj" fmla="val 2235"/>
            </a:avLst>
          </a:prstGeom>
          <a:solidFill>
            <a:srgbClr val="F2F5F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Por que 8 é o mínimo?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15468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</a:rPr>
              <a:t>3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006840" y="31729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831"/>
                </a:solidFill>
              </a:rPr>
              <a:t>Comum + Sulfuras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345643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D3F, D4T e D4F exigem três entradas diferentes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49640" y="39319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</a:rPr>
              <a:t>2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9006840" y="39502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831"/>
                </a:solidFill>
              </a:rPr>
              <a:t>Aged Brie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006840" y="42336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D5F e D6F não cabem no mesmo caso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47091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7293"/>
                </a:solidFill>
              </a:rPr>
              <a:t>3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47274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22831"/>
                </a:solidFill>
              </a:rPr>
              <a:t>Backstage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006840" y="501091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</a:rPr>
              <a:t>D7F, D8F e D10T forçam três ingressos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549640" y="5486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3 + 2 + 3 = 8  ·  34/34 ramos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EVOLUÇÃO DO PROMPT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Do prompt ingênuo ao prompt estruturado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8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7103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Problema observado na Iteração 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Elemento do prompt estruturado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A IA não sabia quais caminhos existiam; o Direto testou só o óbvio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Tabela das 17 decisões com linha, condição e destino True/False (o CFG em forma de tabela)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Nenhuma meta mensurável: “suíte completa” julgada no olho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Meta explícita: 100% de decisão, 34 ramos nomeados D1T…D17F, menor conjunto possível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CoT e Persona melhoraram porque raciocinavam antes do código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Processo obrigatório em 5 etapas: condições de alcance → rastreamento → matriz → minimalidade → código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Few-shot inventou GildedRose{} e *testing.t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API real descrita, proibição de inventar outra, pacote e import já definidos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Spec-driven afirmou falhas que não ocorrem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Todos os testes devem passar; a coluna ramos de cada teste vira afirmação verificável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Guardas de Quality leem valores já alterados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Observações estruturais sobre a ordem das mutações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548640" y="5120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CF3E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6172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70E"/>
                </a:solidFill>
              </a:rPr>
              <a:t>O que o prompt não entrega, de propósito: </a:t>
            </a:r>
            <a:pPr indent="0" marL="0">
              <a:buNone/>
            </a:pPr>
            <a:r>
              <a:rPr lang="en-US" sz="1400" dirty="0">
                <a:solidFill>
                  <a:srgbClr val="222831"/>
                </a:solidFill>
              </a:rPr>
              <a:t>nenhum valor de entrada, nem os casos M1–M8, nem as fronteiras difíceis, nem Conjured. Assim medimos se a IA melhora, não se ela copia.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7360920" y="5120640"/>
            <a:ext cx="4279392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43800" y="51206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Execução: </a:t>
            </a:r>
            <a:pPr indent="0" marL="0">
              <a:buNone/>
            </a:pPr>
            <a:r>
              <a:rPr lang="en-US" sz="1400" dirty="0">
                <a:solidFill>
                  <a:srgbClr val="222831"/>
                </a:solidFill>
              </a:rPr>
              <a:t>ChatGPT, conversa nova, uma única tentativa, sem perguntas de acompanhamento.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AUDITORIA IA × GRAFO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Execução e validação da suíte estruturada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9</a:t>
            </a:r>
            <a:endParaRPr lang="en-US" sz="1400" dirty="0"/>
          </a:p>
        </p:txBody>
      </p:sp>
      <p:sp>
        <p:nvSpPr>
          <p:cNvPr id="5" name="Subtitulo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94D6A"/>
                </a:solidFill>
              </a:rPr>
              <a:t>Não bastou passar: executamos, medimos cada ramo e conferimos cada afirmação da IA contra o código.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548640" y="182880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2F5F9"/>
          </a:solidFill>
          <a:ln/>
        </p:spPr>
      </p:sp>
      <p:sp>
        <p:nvSpPr>
          <p:cNvPr id="7" name="Marcador"/>
          <p:cNvSpPr/>
          <p:nvPr/>
        </p:nvSpPr>
        <p:spPr>
          <a:xfrm>
            <a:off x="749808" y="199339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99339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Compilação e testes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6060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Compilou de primeira, sem adaptação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8/8 testes PASS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100% de statement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Nenhuma asserção alterada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34256" y="182880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2F5F9"/>
          </a:solidFill>
          <a:ln/>
        </p:spPr>
      </p:sp>
      <p:sp>
        <p:nvSpPr>
          <p:cNvPr id="12" name="Marcador"/>
          <p:cNvSpPr/>
          <p:nvPr/>
        </p:nvSpPr>
        <p:spPr>
          <a:xfrm>
            <a:off x="4535424" y="199339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35424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84064" y="199339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Cobertura de decisão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35424" y="26060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34/34 ramos = 100%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Medidor validado: M1–M8 dão 34/34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Sem o M8, faltam exatamente D8T, D10T e D14F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8119872" y="182880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2F5F9"/>
          </a:solidFill>
          <a:ln/>
        </p:spPr>
      </p:sp>
      <p:sp>
        <p:nvSpPr>
          <p:cNvPr id="17" name="Marcador"/>
          <p:cNvSpPr/>
          <p:nvPr/>
        </p:nvSpPr>
        <p:spPr>
          <a:xfrm>
            <a:off x="8321040" y="1993392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2104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1993392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Afirmações da IA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6060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Coluna ramos: 8/8 idênticas ao medido, teste a teste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34 condições de alcance × 7.644 entradas: 0 divergências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Prova do mínimo de 8: correta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548640" y="498348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AF3E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9834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Veredito: sem alucinação. </a:t>
            </a:r>
            <a:pPr indent="0" marL="0">
              <a:buNone/>
            </a:pPr>
            <a:r>
              <a:rPr lang="en-US" sz="1600" dirty="0">
                <a:solidFill>
                  <a:srgbClr val="222831"/>
                </a:solidFill>
              </a:rPr>
              <a:t>Na Iteração 1, com a mesma LLM, Few-shot inventou API e Spec-driven afirmou falhas inexistentes.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760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test ./prompt_tests/estruturado -v     •     go run ./_decisioncov -matriz ./prompt_tests/estruturado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AUDITORIA IA × GRAFO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O que a IA gerou × o que o grafo exigia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10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00200"/>
                <a:gridCol w="731520"/>
                <a:gridCol w="1143000"/>
                <a:gridCol w="1051560"/>
                <a:gridCol w="242316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Entrada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Saída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Caminho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Manual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Destaque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0, 49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fora da base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M7 + M8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Q = 49: satura em 50 e zera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5,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4, 13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Os dois bônus sem vencer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Backstage, 11,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10, 11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M6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Fronteira exata SellIn = 11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0,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C17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Mesmo caminho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T5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Aged Brie, 0,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-1, 50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fora da base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M5 (igual)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Mesma fusão do grupo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T6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Sulfuras, -1,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-1, 10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C15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</a:rPr>
                        <a:t>Quality 10: inválido na spec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T7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0, 2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C13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M1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Q = 2: menor valor para D15T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</a:rPr>
                        <a:t>T8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Comum, 0,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-1, 0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fora da base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M2 (igual)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Mesma fusão do grupo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3492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</a:rPr>
              <a:t>Caminho = caminho da base C1–C18 (slide 6) que o teste percorre.</a:t>
            </a:r>
            <a:endParaRPr lang="en-US" sz="1200" dirty="0"/>
          </a:p>
        </p:txBody>
      </p:sp>
      <p:sp>
        <p:nvSpPr>
          <p:cNvPr id="7" name="Card"/>
          <p:cNvSpPr/>
          <p:nvPr/>
        </p:nvSpPr>
        <p:spPr>
          <a:xfrm>
            <a:off x="8412480" y="1371600"/>
            <a:ext cx="3227832" cy="1828800"/>
          </a:xfrm>
          <a:prstGeom prst="roundRect">
            <a:avLst>
              <a:gd name="adj" fmla="val 4000"/>
            </a:avLst>
          </a:prstGeom>
          <a:solidFill>
            <a:srgbClr val="EAF3E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595360" y="144475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Acertos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1810512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8 testes = mínimo manual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Achou Q = 49 e Brie com 50 sem o prompt dar valores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Fronteiras SellIn 11 e 5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412480" y="3337560"/>
            <a:ext cx="3227832" cy="2286000"/>
          </a:xfrm>
          <a:prstGeom prst="roundRect">
            <a:avLst>
              <a:gd name="adj" fmla="val 3200"/>
            </a:avLst>
          </a:prstGeom>
          <a:solidFill>
            <a:srgbClr val="FBEA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95360" y="341071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Onde ficou aquém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8595360" y="3776472"/>
            <a:ext cx="2926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5 dos 18 caminhos da base (manual: 6)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SellIn 10 e 6 não testados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Sulfuras com Q = 10 vira “esperado”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831"/>
                </a:solidFill>
              </a:rPr>
              <a:t>Nada sobre Conjured: não há ramo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AUDITORIA IA × GRAFO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Cobertura de decisão medida em todas as suítes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11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2588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71600"/>
          <a:ext cx="455371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40080"/>
                <a:gridCol w="685800"/>
                <a:gridCol w="1627632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Suíte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Ramos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Não cobertos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Direto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31/34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</a:rPr>
                        <a:t>D15F, D16F, D17F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Chain-of-Thought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27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32/34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0392B"/>
                          </a:solidFill>
                        </a:rPr>
                        <a:t>D15F, D17F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Persona Pattern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36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34/34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Spec-driven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34/34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Few-shot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24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34/34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Estruturado (It. 2)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</a:rPr>
                        <a:t>34/34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7293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831"/>
                          </a:solidFill>
                        </a:rPr>
                        <a:t>Manual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34/34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831"/>
                          </a:solidFill>
                        </a:rPr>
                        <a:t>—</a:t>
                      </a:r>
                      <a:endParaRPr 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rd"/>
          <p:cNvSpPr/>
          <p:nvPr/>
        </p:nvSpPr>
        <p:spPr>
          <a:xfrm>
            <a:off x="548640" y="5440680"/>
            <a:ext cx="11094415" cy="621792"/>
          </a:xfrm>
          <a:prstGeom prst="roundRect">
            <a:avLst>
              <a:gd name="adj" fmla="val 11765"/>
            </a:avLst>
          </a:prstGeom>
          <a:solidFill>
            <a:srgbClr val="F2F5F9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440680"/>
            <a:ext cx="106372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Leitura: </a:t>
            </a:r>
            <a:pPr indent="0" marL="0">
              <a:buNone/>
            </a:pPr>
            <a:r>
              <a:rPr lang="en-US" sz="1400" dirty="0">
                <a:solidFill>
                  <a:srgbClr val="222831"/>
                </a:solidFill>
              </a:rPr>
              <a:t>os ramos que faltaram são vencimentos em fronteira — comum vencido com Q ≤ 1 (D15F), Sulfuras vencido (D16F), Brie vencido com Q ≥ 49 (D17F). O prompt estruturado cobriu os três com 8 testes.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ITERAÇÃO 2 · AUDITORIA IA × GRAFO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Lacunas da Iteração 1: o que a Iteração 2 resolveu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12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5486400"/>
                <a:gridCol w="15819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Achado da Iteração 1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 que a Iteração 2 fez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100% de statement escondia ramos sem teste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Cobertura de decisão medida em todas as suítes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7AE60"/>
                          </a:solidFill>
                        </a:rPr>
                        <a:t>Resolvido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Ranking subjetivo, sem meta mensurável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Meta de 34 ramos; ranking refeito pela medição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7AE60"/>
                          </a:solidFill>
                        </a:rPr>
                        <a:t>Resolvido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Alucinação de API (Few-shot)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API real no prompt; compilou de primeira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7AE60"/>
                          </a:solidFill>
                        </a:rPr>
                        <a:t>Resolvido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Alucinação de comportamento (Spec-driven)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Afirmações auditadas: 8/8 ramos, 0 divergências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7AE60"/>
                          </a:solidFill>
                        </a:rPr>
                        <a:t>Resolvido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Oráculo derivado do código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O prompt pede caracterização do código atual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</a:rPr>
                        <a:t>Persiste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Sulfuras com qualidade inválida (CoT = 100)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T6 usa Sulfuras com Quality 10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</a:rPr>
                        <a:t>Persiste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Conjured sem implementação nem teste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Sem ramo no código, fica fora do CFG; testes manuais seguem vermelhos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</a:rPr>
                        <a:t>Persiste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Só uma chamada de UpdateQuality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Critério definido como 1 item em 1 chamada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</a:rPr>
                        <a:t>Persiste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</a:rPr>
                        <a:t>Item nil em lista não vazia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831"/>
                          </a:solidFill>
                        </a:rPr>
                        <a:t>CFG modela só o fluxo normal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5A6472"/>
                          </a:solidFill>
                        </a:rPr>
                        <a:t>Fora do escopo</a:t>
                      </a:r>
                      <a:endParaRPr 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494D6A"/>
                </a:solidFill>
              </a:rPr>
              <a:t>A estrutura resolveu o que era de estrutura: medição, meta e alucinação. O que depende da especificação continua precisando de auditoria humana.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ENTREGÁVEL FINAL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Quadro comparativo final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13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2862072"/>
                <a:gridCol w="2862072"/>
                <a:gridCol w="2871216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Critério</a:t>
                      </a:r>
                      <a:endParaRPr lang="en-US" sz="18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Iteração 1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(Prompt Ingênuo)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Abordagem Manual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(Teórica)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Iteração 2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</a:rPr>
                        <a:t>(Prompt Estruturado)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</a:rPr>
                        <a:t>Cobertura de Decisão</a:t>
                      </a:r>
                      <a:endParaRPr lang="en-US" sz="18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C0392B"/>
                          </a:solidFill>
                        </a:rPr>
                        <a:t>91,2% detectada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31/34 ramos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7AE60"/>
                          </a:solidFill>
                        </a:rPr>
                        <a:t>100% mapeada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34/34 ramos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7AE60"/>
                          </a:solidFill>
                        </a:rPr>
                        <a:t>100% detectada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34/34 ramos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</a:rPr>
                        <a:t>Casos de Teste</a:t>
                      </a:r>
                      <a:endParaRPr lang="en-US" sz="18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22831"/>
                          </a:solidFill>
                        </a:rPr>
                        <a:t>13 gerados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acima do necessário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22831"/>
                          </a:solidFill>
                        </a:rPr>
                        <a:t>8 necessários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mínimo provado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7AE60"/>
                          </a:solidFill>
                        </a:rPr>
                        <a:t>8 gerados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igual ao mínimo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761"/>
                          </a:solidFill>
                        </a:rPr>
                        <a:t>Alucinações</a:t>
                      </a:r>
                      <a:endParaRPr lang="en-US" sz="18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22831"/>
                          </a:solidFill>
                        </a:rPr>
                        <a:t>Não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no Direto*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5A6472"/>
                          </a:solidFill>
                        </a:rPr>
                        <a:t>N/A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7AE60"/>
                          </a:solidFill>
                        </a:rPr>
                        <a:t>Não</a:t>
                      </a:r>
                      <a:endParaRPr lang="en-US" sz="1600" dirty="0"/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A6472"/>
                          </a:solidFill>
                        </a:rPr>
                        <a:t>auditado ramo a ramo</a:t>
                      </a:r>
                      <a:endParaRPr lang="en-US" sz="16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A6472"/>
                </a:solidFill>
              </a:rPr>
              <a:t>* Prompt Ingênuo = prompt Direto (baseline).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Entre as outras técnicas da Iteração 1, houve alucinação no Few-shot (API inventada) e no Spec-driven (falhas inexistentes). Mesma LLM nas duas iterações: ChatGPT.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FECHAMENTO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Veredito final consolidado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14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3593592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Iteração 1 — Direto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13 testes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</a:rPr>
              <a:t>31/34 ramos · 91,2%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297680" y="1371600"/>
            <a:ext cx="3593592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4630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</a:rPr>
              <a:t>Manual teórico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8 casos mínimos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86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</a:rPr>
              <a:t>34/34 ramos · 100%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046720" y="1371600"/>
            <a:ext cx="3593592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5320" y="14630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Iteração 2 — Estruturado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</a:rPr>
              <a:t>8 testes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286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A6472"/>
                </a:solidFill>
              </a:rPr>
              <a:t>34/34 ramos · 100%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548640" y="301752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EAF3E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31089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7AE60"/>
                </a:solidFill>
              </a:rPr>
              <a:t>Mensagem final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493008"/>
            <a:ext cx="6492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831"/>
                </a:solidFill>
              </a:rPr>
              <a:t>Com a mesma LLM, o prompt estruturado levou a IA ao mínimo teórico: 34/34 ramos com 8 testes, rastreáveis e sem alucinação. Mas 100% de decisão não é 100% de caminhos (5 de 18) nem 100% dos requisitos: Conjured continua fora do grafo porque falta no código.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7726680" y="3017520"/>
            <a:ext cx="3913632" cy="1965960"/>
          </a:xfrm>
          <a:prstGeom prst="roundRect">
            <a:avLst>
              <a:gd name="adj" fmla="val 3721"/>
            </a:avLst>
          </a:prstGeom>
          <a:solidFill>
            <a:srgbClr val="F2F5F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0956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</a:rPr>
              <a:t>Próximos passos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3493008"/>
            <a:ext cx="3611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Implementar Conjured: os testes vermelhos viram regressão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Testes de vários dias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831"/>
                </a:solidFill>
              </a:rPr>
              <a:t>Oráculo da especificação ao lado da caracterização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035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E2761"/>
                </a:solidFill>
              </a:rPr>
              <a:t>Cobertura mede o código exercitado; auditoria mede se o código certo foi exercitado.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2011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</a:rPr>
              <a:t>FECHAMENTO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Mostrando a execução</a:t>
            </a:r>
            <a:endParaRPr lang="en-US" sz="3200" dirty="0"/>
          </a:p>
        </p:txBody>
      </p:sp>
      <p:sp>
        <p:nvSpPr>
          <p:cNvPr id="4" name="Pagina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94D6A"/>
                </a:solidFill>
              </a:rPr>
              <a:t>15</a:t>
            </a:r>
            <a:endParaRPr lang="en-US" sz="1400" dirty="0"/>
          </a:p>
        </p:txBody>
      </p:sp>
      <p:sp>
        <p:nvSpPr>
          <p:cNvPr id="5" name="Subtitulo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94D6A"/>
                </a:solidFill>
              </a:rPr>
              <a:t>Comandos rodados a partir de gilded-rose-go/, com a saída real resumida.</a:t>
            </a:r>
            <a:endParaRPr lang="en-US" sz="1700" dirty="0"/>
          </a:p>
        </p:txBody>
      </p:sp>
      <p:sp>
        <p:nvSpPr>
          <p:cNvPr id="6" name="Terminal"/>
          <p:cNvSpPr/>
          <p:nvPr/>
        </p:nvSpPr>
        <p:spPr>
          <a:xfrm>
            <a:off x="548640" y="1783080"/>
            <a:ext cx="11094415" cy="4343400"/>
          </a:xfrm>
          <a:prstGeom prst="roundRect">
            <a:avLst>
              <a:gd name="adj" fmla="val 1684"/>
            </a:avLst>
          </a:prstGeom>
          <a:solidFill>
            <a:srgbClr val="1B1E3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1920240"/>
            <a:ext cx="1045433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FD1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go test ./prompt_tests/estruturado -v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PASS: TestUpdateQualityCoberturaEstrutural/T1 … T8      (8/8 PASS)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FD1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go run ./_decisioncov ./_decisioncov/validacao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_decisioncov/validacao           passam   34/34 (100.0%)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FD1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go run ./_decisioncov ./prompt_tests/...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C0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SUÍTE                            TESTES   DECISÃO         RAMOS NÃO COBERTOS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prompt_tests/chain_of_thought    passam   32/34 ( 94.1%)  D15F D17F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prompt_tests/direto              passam   31/34 ( 91.2%)  D15F D16F D17F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8C3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prompt_tests/estruturado         passam   34/34 (100.0%)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prompt_tests/few_shot            passam   34/34 (100.0%)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prompt_tests/persona_pattern     passam   34/34 (100.0%)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prompt_tests/spec_driven         passam   34/34 (100.0%)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DE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FD1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go test ./manual_tests -v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06C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FAIL: TestConjuredItemsDegradeTwiceAsFast   (3/3 FAIL)   ← lacuna de requisito, de propósito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cao"/>
          <p:cNvSpPr/>
          <p:nvPr/>
        </p:nvSpPr>
        <p:spPr>
          <a:xfrm>
            <a:off x="-1280160" y="-1463040"/>
            <a:ext cx="4023360" cy="4023360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" name="Decoracao"/>
          <p:cNvSpPr/>
          <p:nvPr/>
        </p:nvSpPr>
        <p:spPr>
          <a:xfrm>
            <a:off x="9692640" y="4114800"/>
            <a:ext cx="3474720" cy="3474720"/>
          </a:xfrm>
          <a:prstGeom prst="ellipse">
            <a:avLst/>
          </a:prstGeom>
          <a:solidFill>
            <a:srgbClr val="E3EC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E2761"/>
                </a:solidFill>
              </a:rPr>
              <a:t>Obrigado!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C7293"/>
                </a:solidFill>
              </a:rPr>
              <a:t>AI Quality — O Desafio Gilded Rose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0" y="39319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</a:rPr>
              <a:t>github.com/gustavoprehl/TesteDeSoftware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Quality Gilded Rose">
  <a:themeElements>
    <a:clrScheme name="AI Quality Gilded Rose">
      <a:dk1>
        <a:srgbClr val="222831"/>
      </a:dk1>
      <a:lt1>
        <a:srgbClr val="FFFFFF"/>
      </a:lt1>
      <a:dk2>
        <a:srgbClr val="1E2761"/>
      </a:dk2>
      <a:lt2>
        <a:srgbClr val="F2F5F9"/>
      </a:lt2>
      <a:accent1>
        <a:srgbClr val="1E2761"/>
      </a:accent1>
      <a:accent2>
        <a:srgbClr val="1C7293"/>
      </a:accent2>
      <a:accent3>
        <a:srgbClr val="27AE60"/>
      </a:accent3>
      <a:accent4>
        <a:srgbClr val="C0392B"/>
      </a:accent4>
      <a:accent5>
        <a:srgbClr val="494D6A"/>
      </a:accent5>
      <a:accent6>
        <a:srgbClr val="5A6472"/>
      </a:accent6>
      <a:hlink>
        <a:srgbClr val="1C7293"/>
      </a:hlink>
      <a:folHlink>
        <a:srgbClr val="494D6A"/>
      </a:folHlink>
    </a:clrScheme>
    <a:fontScheme name="AI Quality Gilded Rose">
      <a:majorFont>
        <a:latin typeface="Rajdhan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jdhan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Quality — O Desafio Gilded Rose (Iteração 2)</dc:title>
  <dc:subject>PptxGenJS Presentation</dc:subject>
  <dc:creator>Grupo AI Quality — PUC</dc:creator>
  <cp:lastModifiedBy>Grupo AI Quality — PUC</cp:lastModifiedBy>
  <cp:revision>1</cp:revision>
  <dcterms:created xsi:type="dcterms:W3CDTF">2026-10-06T13:11:25Z</dcterms:created>
  <dcterms:modified xsi:type="dcterms:W3CDTF">2026-10-06T13:11:25Z</dcterms:modified>
</cp:coreProperties>
</file>