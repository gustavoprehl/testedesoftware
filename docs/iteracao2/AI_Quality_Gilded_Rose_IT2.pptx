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Play"/>
      <p:regular r:id="rId32"/>
      <p:bold r:id="rId31"/>
    </p:embeddedFont>
    <p:embeddedFont>
      <p:font typeface="Inter"/>
      <p:regular r:id="rId30"/>
      <p:bold r:id="rId27"/>
      <p:italic r:id="rId29"/>
      <p:boldItalic r:id="rId28"/>
    </p:embeddedFont>
    <p:embeddedFont>
      <p:font typeface="Rajdhani"/>
      <p:regular r:id="rId34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teração 1" id="{465dc4c7-f2f9-3973-4787-2994096aebc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Iteração 2 — Análise de fluxo" id="{3bbaa11c-aedc-a648-021b-3ebab2f7f757}">
          <p14:sldIdLst>
            <p14:sldId id="264"/>
            <p14:sldId id="265"/>
            <p14:sldId id="266"/>
          </p14:sldIdLst>
        </p14:section>
        <p14:section name="Iteração 2 — Evolução do prompt" id="{dead23fd-a9c8-22c4-8aa9-c8fbbaf9febb}">
          <p14:sldIdLst>
            <p14:sldId id="267"/>
          </p14:sldIdLst>
        </p14:section>
        <p14:section name="Iteração 2 — Auditoria IA × grafo" id="{febf78bb-7bfe-0d96-023d-ddb802ccf29e}">
          <p14:sldIdLst>
            <p14:sldId id="268"/>
            <p14:sldId id="269"/>
            <p14:sldId id="270"/>
            <p14:sldId id="271"/>
          </p14:sldIdLst>
        </p14:section>
        <p14:section name="Fechamento" id="{bb6c9413-eac4-b8e2-8cb8-e20c9c0d1ec3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Inter-bold.fntdata"/><Relationship Id="rId28" Type="http://schemas.openxmlformats.org/officeDocument/2006/relationships/font" Target="fonts/Inter-boldItalic.fntdata"/><Relationship Id="rId29" Type="http://schemas.openxmlformats.org/officeDocument/2006/relationships/font" Target="fonts/Inter-italic.fntdata"/><Relationship Id="rId30" Type="http://schemas.openxmlformats.org/officeDocument/2006/relationships/font" Target="fonts/Inter-regular.fntdata"/><Relationship Id="rId31" Type="http://schemas.openxmlformats.org/officeDocument/2006/relationships/font" Target="fonts/Play-bold.fntdata"/><Relationship Id="rId32" Type="http://schemas.openxmlformats.org/officeDocument/2006/relationships/font" Target="fonts/Play-regular.fntdata"/><Relationship Id="rId33" Type="http://schemas.openxmlformats.org/officeDocument/2006/relationships/font" Target="fonts/Rajdhani-bold.fntdata"/><Relationship Id="rId34" Type="http://schemas.openxmlformats.org/officeDocument/2006/relationships/font" Target="fonts/Rajdhani-regular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94D6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94D6A"/>
                </a:solidFill>
                <a:latin typeface="+mn-lt"/>
              </a:rPr>
              <a:t>Cobertura de decisão (%) — eixo a partir de 80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 de decisão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Direto</c:v>
                  </c:pt>
                  <c:pt idx="1">
                    <c:v>Chain-of-Thought</c:v>
                  </c:pt>
                  <c:pt idx="2">
                    <c:v>Persona Pattern</c:v>
                  </c:pt>
                  <c:pt idx="3">
                    <c:v>Spec-driven</c:v>
                  </c:pt>
                  <c:pt idx="4">
                    <c:v>Few-shot</c:v>
                  </c:pt>
                  <c:pt idx="5">
                    <c:v>Estruturado (It. 2)</c:v>
                  </c:pt>
                  <c:pt idx="6">
                    <c:v>Manual M1–M8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91.2</c:v>
                </c:pt>
                <c:pt idx="1">
                  <c:v>94.1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8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b"/>
        <c:majorGridlines>
          <c:spPr>
            <a:ln w="9525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trabalho em duas partes: o que a IA gerou na Iteração 1 e a análise estrutural (caixa branca) da Iteração 2, que confronta a IA com o 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o ChatGPT foi usado nas duas iterações: a comparação isola o efeito do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da Iteração 1: 123 testes (13 + 27 + 36 + 24 + 23).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ranking foi refeito com a métrica objetiva da Iteração 2. Chain-of-Thought, que era 2º, cai para 4º: parecia forte, mas deixou dois ramos sem teste. Few-shot sobe porque, depois de compilar, cobre 34/34.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alucinação de API do Few-shot é a evidência usada na linha 'Alucinações' do quadro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docs/iteracao2/analise-estrutural.md e cfg.md. Os else não são decisões novas: são as arestas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Conferência de E: 17 nós de decisão com 2 saídas (34) + 11 nós sequenciais com 1 saída (11) = 45. Os 18 caminhos estão em cfg.md, seção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8 casos foram derivados dos caminhos independentes: 10 caminhos da base eram necessários, e duas fusões (M2 = C3 + C14, M5 = C7 + C18) reduziram para 8. Executados numa cópia instrumentada: 34/34.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completo em docs/iteracao2/prompt-iteracao2.txt; resposta literal em resposta-ia-iteracao2.md; link da conversa no prompt-estruturado.md.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Medidor _decisioncov: cópia instrumentada de UpdateQuality com um marcador em cada lado de D1–D17, rodada numa pasta temporária. Enumeração: 4 tipos de item × SellIn −5..15 × Quality −5..85 = 7.644 entradas, 259.896 comparações.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Pela dica do enunciado, as falhas são resultado: 100% de decisão não é 100% de caminhos, e o oráculo de caracterização aceita o estado inválido de Sulfuras, o mesmo padrão do Chain-of-Thought na Iteração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suítes medidas com o mesmo instrumento: go run ./_decisioncov ./prompt_tests/...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quadro exigido no item 3 do enunciado, com as mesmas linhas e colunas. Todos os percentuais vêm do mesmo medidor.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AI Quality — O Desafio Gilded Rose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E276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ao"/>
          <p:cNvSpPr/>
          <p:nvPr/>
        </p:nvSpPr>
        <p:spPr>
          <a:xfrm>
            <a:off x="8503920" y="-1463040"/>
            <a:ext cx="4754880" cy="4754880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" name="Decoracao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E3EC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7293"/>
                </a:solidFill>
              </a:rPr>
              <a:t>AI QUALITY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O Desafio Gilded Rose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94D6A"/>
                </a:solidFill>
              </a:rPr>
              <a:t>Testes unitários gerados por IA sob auditoria: cinco técnicas de prompt na Iteração 1 e um prompt estruturado, guiado pelo grafo de fluxo de controle, na Iteração 2.</a:t>
            </a:r>
            <a:endParaRPr lang="en-US" sz="1900" dirty="0"/>
          </a:p>
        </p:txBody>
      </p:sp>
      <p:sp>
        <p:nvSpPr>
          <p:cNvPr id="7" name="Etiqueta"/>
          <p:cNvSpPr/>
          <p:nvPr/>
        </p:nvSpPr>
        <p:spPr>
          <a:xfrm>
            <a:off x="640080" y="4160520"/>
            <a:ext cx="512064" cy="384048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Go</a:t>
            </a:r>
            <a:endParaRPr lang="en-US" sz="1400" dirty="0"/>
          </a:p>
        </p:txBody>
      </p:sp>
      <p:sp>
        <p:nvSpPr>
          <p:cNvPr id="9" name="Etiqueta"/>
          <p:cNvSpPr/>
          <p:nvPr/>
        </p:nvSpPr>
        <p:spPr>
          <a:xfrm>
            <a:off x="1289304" y="4160520"/>
            <a:ext cx="992124" cy="384048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9304" y="4160520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ChatGPT</a:t>
            </a:r>
            <a:endParaRPr lang="en-US" sz="1400" dirty="0"/>
          </a:p>
        </p:txBody>
      </p:sp>
      <p:sp>
        <p:nvSpPr>
          <p:cNvPr id="11" name="Etiqueta"/>
          <p:cNvSpPr/>
          <p:nvPr/>
        </p:nvSpPr>
        <p:spPr>
          <a:xfrm>
            <a:off x="2418588" y="4160520"/>
            <a:ext cx="1856232" cy="384048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18588" y="416052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Gilded Rose Kata</a:t>
            </a:r>
            <a:endParaRPr lang="en-US" sz="1400" dirty="0"/>
          </a:p>
        </p:txBody>
      </p:sp>
      <p:sp>
        <p:nvSpPr>
          <p:cNvPr id="13" name="Etiqueta"/>
          <p:cNvSpPr/>
          <p:nvPr/>
        </p:nvSpPr>
        <p:spPr>
          <a:xfrm>
            <a:off x="4411980" y="4160520"/>
            <a:ext cx="1760220" cy="384048"/>
          </a:xfrm>
          <a:prstGeom prst="roundRect">
            <a:avLst>
              <a:gd name="adj" fmla="val 14286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11980" y="4160520"/>
            <a:ext cx="17602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CFG · V(G) = 18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31"/>
                </a:solidFill>
              </a:rPr>
              <a:t>Arthur Lara Panzera  •  Albert Luis  •  Diogo Caribe  •  Felipe Augusto Pereira  •  Gabriel Reis Lebron  •  Gustavo Azi Prehl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Setup do experimento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</a:rPr>
              <a:t>Iteração 1: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831"/>
                </a:solidFill>
              </a:rPr>
              <a:t>técnicas diferentes de prompt mudam a qualidade dos testes gerados por IA?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</a:rPr>
              <a:t>Iteração 2: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831"/>
                </a:solidFill>
              </a:rPr>
              <a:t>com acesso à estrutura interna (CFG), a IA percorre todos os caminhos ou só “arranha a superfície”?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</a:rPr>
              <a:t>Configuração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Linguagem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831"/>
                          </a:solidFill>
                        </a:rPr>
                        <a:t>Go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LLM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831"/>
                          </a:solidFill>
                        </a:rPr>
                        <a:t>ChatGPT — a mesma nas duas iterações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Kata base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831"/>
                          </a:solidFill>
                        </a:rPr>
                        <a:t>Gilded Rose (Emily Bache)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Função analisada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831"/>
                          </a:solidFill>
                        </a:rPr>
                        <a:t>UpdateQuality(items []*Item)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</a:rPr>
                        <a:t>Repositório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831"/>
                          </a:solidFill>
                        </a:rPr>
                        <a:t>github.com/gustavoprehl/TesteDeSoftware</a:t>
                      </a:r>
                      <a:endParaRPr lang="en-US" sz="15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9951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</a:rPr>
              <a:t>Estrutura da equipe</a:t>
            </a:r>
            <a:endParaRPr lang="en-US" sz="2100" dirty="0"/>
          </a:p>
        </p:txBody>
      </p:sp>
      <p:sp>
        <p:nvSpPr>
          <p:cNvPr id="10" name="Card"/>
          <p:cNvSpPr/>
          <p:nvPr/>
        </p:nvSpPr>
        <p:spPr>
          <a:xfrm>
            <a:off x="6995160" y="2971800"/>
            <a:ext cx="4645152" cy="640080"/>
          </a:xfrm>
          <a:prstGeom prst="roundRect">
            <a:avLst>
              <a:gd name="adj" fmla="val 11429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78040" y="3035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Dupla 1 · Engenharia de Prompt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3009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Testar e documentar as técnicas de prompt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995160" y="3721608"/>
            <a:ext cx="4645152" cy="640080"/>
          </a:xfrm>
          <a:prstGeom prst="roundRect">
            <a:avLst>
              <a:gd name="adj" fmla="val 11429"/>
            </a:avLst>
          </a:prstGeom>
          <a:solidFill>
            <a:srgbClr val="F2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78040" y="3785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Dupla 2 · Implementação em Go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050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Integrar testes, corrigir erros, capturar evidências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995160" y="4471416"/>
            <a:ext cx="4645152" cy="640080"/>
          </a:xfrm>
          <a:prstGeom prst="roundRect">
            <a:avLst>
              <a:gd name="adj" fmla="val 11429"/>
            </a:avLst>
          </a:prstGeom>
          <a:solidFill>
            <a:srgbClr val="F2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178040" y="4535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Dupla 3 · Auditoria &amp; Análise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4800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Auditar cobertura, escrever veredito, montar slides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54406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440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Variável controlada: </a:t>
            </a:r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a LLM é a mesma (ChatGPT) nas duas iterações. Entre a Iteração 1 e a Iteração 2, muda só o prompt.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O código legado — gildedrose.go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E2761"/>
                </a:solidFill>
              </a:rPr>
              <a:t>Função central: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22831"/>
                </a:solidFill>
              </a:rPr>
              <a:t>UpdateQuality(items []*Item), um laço sobre os itens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E2761"/>
                </a:solidFill>
              </a:rPr>
              <a:t>Struct: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22831"/>
                </a:solidFill>
              </a:rPr>
              <a:t>Item { Name string; SellIn, Quality int }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E2761"/>
                </a:solidFill>
              </a:rPr>
              <a:t>Tipos tratados: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22831"/>
                </a:solidFill>
              </a:rPr>
              <a:t>Normal, Aged Brie, Sulfuras, Backstage Passes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E2761"/>
                </a:solidFill>
              </a:rPr>
              <a:t>Regras de limite: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22831"/>
                </a:solidFill>
              </a:rPr>
              <a:t>Quality nunca &lt; 0 nem &gt; 50 (exceto Sulfuras, fixo em 80)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E2761"/>
                </a:solidFill>
              </a:rPr>
              <a:t>Estrutura: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22831"/>
                </a:solidFill>
              </a:rPr>
              <a:t>17 decisões aninhadas, uma condição composta (&amp;&amp;) e guardas repetidas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44348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F2CF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5537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</a:rPr>
              <a:t>Ponto crítico (revelado na auditoria)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1947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831"/>
                </a:solidFill>
              </a:rPr>
              <a:t>O fixture do kata cita “Conjured Mana Cake”, mas o código não implementa a regra de degradação dupla: não há nenhum if para esse tipo.</a:t>
            </a:r>
            <a:endParaRPr lang="en-US" sz="1500" dirty="0"/>
          </a:p>
        </p:txBody>
      </p:sp>
      <p:pic>
        <p:nvPicPr>
          <p:cNvPr id="9" name="Codigo legado" descr="C:\Users\gusta\AppData\Local\Temp\claude\c--Users-gusta-Documents-PUC-TesteDeSoftware-TesteDeSoftware\09bfd03c-76c7-4b8c-8692-e413f11554ba\scratchpad\build\media\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417320"/>
            <a:ext cx="4983480" cy="4145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Metodologia — 5 técnicas de prompt testadas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2F5F9"/>
          </a:solidFill>
          <a:ln/>
        </p:spPr>
      </p:sp>
      <p:sp>
        <p:nvSpPr>
          <p:cNvPr id="6" name="Marcador"/>
          <p:cNvSpPr/>
          <p:nvPr/>
        </p:nvSpPr>
        <p:spPr>
          <a:xfrm>
            <a:off x="731520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Direto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Colar o código e pedir a suíte diretamente</a:t>
            </a:r>
            <a:endParaRPr lang="en-US" sz="1600" dirty="0"/>
          </a:p>
        </p:txBody>
      </p:sp>
      <p:sp>
        <p:nvSpPr>
          <p:cNvPr id="10" name="Contagem"/>
          <p:cNvSpPr/>
          <p:nvPr/>
        </p:nvSpPr>
        <p:spPr>
          <a:xfrm>
            <a:off x="731520" y="4526280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5262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 testes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2807208" y="141732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2F5F9"/>
          </a:solidFill>
          <a:ln/>
        </p:spPr>
      </p:sp>
      <p:sp>
        <p:nvSpPr>
          <p:cNvPr id="13" name="Marcador"/>
          <p:cNvSpPr/>
          <p:nvPr/>
        </p:nvSpPr>
        <p:spPr>
          <a:xfrm>
            <a:off x="2990088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19456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Chain-of-Thought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297180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Raciocínio passo a passo antes do código</a:t>
            </a:r>
            <a:endParaRPr lang="en-US" sz="1600" dirty="0"/>
          </a:p>
        </p:txBody>
      </p:sp>
      <p:sp>
        <p:nvSpPr>
          <p:cNvPr id="17" name="Contagem"/>
          <p:cNvSpPr/>
          <p:nvPr/>
        </p:nvSpPr>
        <p:spPr>
          <a:xfrm>
            <a:off x="2990088" y="4526280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90088" y="45262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27 testes</a:t>
            </a:r>
            <a:endParaRPr lang="en-US" sz="1800" dirty="0"/>
          </a:p>
        </p:txBody>
      </p:sp>
      <p:sp>
        <p:nvSpPr>
          <p:cNvPr id="19" name="Card"/>
          <p:cNvSpPr/>
          <p:nvPr/>
        </p:nvSpPr>
        <p:spPr>
          <a:xfrm>
            <a:off x="5065776" y="141732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2F5F9"/>
          </a:solidFill>
          <a:ln/>
        </p:spPr>
      </p:sp>
      <p:sp>
        <p:nvSpPr>
          <p:cNvPr id="20" name="Marcador"/>
          <p:cNvSpPr/>
          <p:nvPr/>
        </p:nvSpPr>
        <p:spPr>
          <a:xfrm>
            <a:off x="5248656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248656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48656" y="219456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Persona Pattern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297180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Papel de Senior QA Engineer, 15 anos</a:t>
            </a:r>
            <a:endParaRPr lang="en-US" sz="1600" dirty="0"/>
          </a:p>
        </p:txBody>
      </p:sp>
      <p:sp>
        <p:nvSpPr>
          <p:cNvPr id="24" name="Contagem"/>
          <p:cNvSpPr/>
          <p:nvPr/>
        </p:nvSpPr>
        <p:spPr>
          <a:xfrm>
            <a:off x="5248656" y="4526280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48656" y="45262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36 testes</a:t>
            </a:r>
            <a:endParaRPr lang="en-US" sz="1800" dirty="0"/>
          </a:p>
        </p:txBody>
      </p:sp>
      <p:sp>
        <p:nvSpPr>
          <p:cNvPr id="26" name="Card"/>
          <p:cNvSpPr/>
          <p:nvPr/>
        </p:nvSpPr>
        <p:spPr>
          <a:xfrm>
            <a:off x="7324344" y="141732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2F5F9"/>
          </a:solidFill>
          <a:ln/>
        </p:spPr>
      </p:sp>
      <p:sp>
        <p:nvSpPr>
          <p:cNvPr id="27" name="Marcador"/>
          <p:cNvSpPr/>
          <p:nvPr/>
        </p:nvSpPr>
        <p:spPr>
          <a:xfrm>
            <a:off x="7507224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07224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507224" y="219456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Few-shot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507224" y="297180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Template AAA fornecido como exemplo</a:t>
            </a:r>
            <a:endParaRPr lang="en-US" sz="1600" dirty="0"/>
          </a:p>
        </p:txBody>
      </p:sp>
      <p:sp>
        <p:nvSpPr>
          <p:cNvPr id="31" name="Contagem"/>
          <p:cNvSpPr/>
          <p:nvPr/>
        </p:nvSpPr>
        <p:spPr>
          <a:xfrm>
            <a:off x="7507224" y="4526280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07224" y="45262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24 testes</a:t>
            </a:r>
            <a:endParaRPr lang="en-US" sz="1800" dirty="0"/>
          </a:p>
        </p:txBody>
      </p:sp>
      <p:sp>
        <p:nvSpPr>
          <p:cNvPr id="33" name="Card"/>
          <p:cNvSpPr/>
          <p:nvPr/>
        </p:nvSpPr>
        <p:spPr>
          <a:xfrm>
            <a:off x="9582912" y="1417320"/>
            <a:ext cx="2029968" cy="3977640"/>
          </a:xfrm>
          <a:prstGeom prst="roundRect">
            <a:avLst>
              <a:gd name="adj" fmla="val 3604"/>
            </a:avLst>
          </a:prstGeom>
          <a:solidFill>
            <a:srgbClr val="F2F5F9"/>
          </a:solidFill>
          <a:ln/>
        </p:spPr>
      </p:sp>
      <p:sp>
        <p:nvSpPr>
          <p:cNvPr id="34" name="Marcador"/>
          <p:cNvSpPr/>
          <p:nvPr/>
        </p:nvSpPr>
        <p:spPr>
          <a:xfrm>
            <a:off x="9765792" y="16002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765792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765792" y="219456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Spec-driven (bônus)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765792" y="2971800"/>
            <a:ext cx="170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Regras de negócio explícitas no preâmbulo</a:t>
            </a:r>
            <a:endParaRPr lang="en-US" sz="1600" dirty="0"/>
          </a:p>
        </p:txBody>
      </p:sp>
      <p:sp>
        <p:nvSpPr>
          <p:cNvPr id="38" name="Contagem"/>
          <p:cNvSpPr/>
          <p:nvPr/>
        </p:nvSpPr>
        <p:spPr>
          <a:xfrm>
            <a:off x="9765792" y="4526280"/>
            <a:ext cx="1664208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65792" y="45262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23 testes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</a:rPr>
              <a:t>Teste = um cenário executável. Chain-of-Thought e Persona agrupam seus testes em funções com t.Run; contamos os testes, não as funções.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Resultados e ranking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5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01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691640"/>
                <a:gridCol w="731520"/>
                <a:gridCol w="1325880"/>
                <a:gridCol w="868680"/>
                <a:gridCol w="2788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Técnica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Compilou?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Decisão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1º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1"/>
                          </a:solidFill>
                        </a:rPr>
                        <a:t>Persona Pattern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36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Sem alucinação; único com slice nil e vazio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2º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1"/>
                          </a:solidFill>
                        </a:rPr>
                        <a:t>Spec-driven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Afirmou que 3 testes falhariam — eles passam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3º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1"/>
                          </a:solidFill>
                        </a:rPr>
                        <a:t>Few-shot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24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Não → corrigido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Struct inventada e *testing.t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4º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1"/>
                          </a:solidFill>
                        </a:rPr>
                        <a:t>Chain-of-Thought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27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</a:rPr>
                        <a:t>94,1%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Faltam D15F e D17F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5º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22831"/>
                          </a:solidFill>
                        </a:rPr>
                        <a:t>Direto (baseline)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Sim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</a:rPr>
                        <a:t>91,2%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Faltam D15F, D16F e D17F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66344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Critério do ranking: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831"/>
                </a:solidFill>
              </a:rPr>
              <a:t>cobertura de decisão medida (Iteração 2); no empate, compilar sem correção e não alucinar.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A6472"/>
                </a:solidFill>
              </a:rPr>
              <a:t>Ranking original, antes da medição: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472"/>
                </a:solidFill>
              </a:rPr>
              <a:t>Persona &gt; Chain-of-Thought &gt; Spec-driven &gt; Direto &gt; Few-shot.</a:t>
            </a:r>
            <a:endParaRPr lang="en-US" sz="1400" dirty="0"/>
          </a:p>
        </p:txBody>
      </p:sp>
      <p:sp>
        <p:nvSpPr>
          <p:cNvPr id="7" name="Estatistica"/>
          <p:cNvSpPr/>
          <p:nvPr/>
        </p:nvSpPr>
        <p:spPr>
          <a:xfrm>
            <a:off x="8915400" y="1417320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15400" y="1490472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123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20574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testes executados</a:t>
            </a:r>
            <a:endParaRPr lang="en-US" sz="1300" dirty="0"/>
          </a:p>
        </p:txBody>
      </p:sp>
      <p:sp>
        <p:nvSpPr>
          <p:cNvPr id="10" name="Estatistica"/>
          <p:cNvSpPr/>
          <p:nvPr/>
        </p:nvSpPr>
        <p:spPr>
          <a:xfrm>
            <a:off x="8915400" y="2624328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15400" y="2697480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2644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FAIL (após a correção do Few-shot)</a:t>
            </a:r>
            <a:endParaRPr lang="en-US" sz="1300" dirty="0"/>
          </a:p>
        </p:txBody>
      </p:sp>
      <p:sp>
        <p:nvSpPr>
          <p:cNvPr id="13" name="Estatistica"/>
          <p:cNvSpPr/>
          <p:nvPr/>
        </p:nvSpPr>
        <p:spPr>
          <a:xfrm>
            <a:off x="8915400" y="3831336"/>
            <a:ext cx="2724912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15400" y="3904488"/>
            <a:ext cx="2724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100%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4471416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cobertura de statement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502920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</a:rPr>
              <a:t>O runner reporta 131: ele conta também as 8 funções que apenas agrupam testes (4 do Chain-of-Thought e 4 da Persona).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Estudo de caso: Few-shot — de RED a GREEN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/>
        </p:spPr>
      </p:sp>
      <p:sp>
        <p:nvSpPr>
          <p:cNvPr id="6" name="Fundo icone"/>
          <p:cNvSpPr/>
          <p:nvPr/>
        </p:nvSpPr>
        <p:spPr>
          <a:xfrm>
            <a:off x="731520" y="1783080"/>
            <a:ext cx="713232" cy="7132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cone" descr="C:\Users\gusta\AppData\Local\Temp\claude\c--Users-gusta-Documents-PUC-TesteDeSoftware-TesteDeSoftware\09bfd03c-76c7-4b8c-8692-e413f11554ba\scratchpad\build\media\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11096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</a:rPr>
              <a:t>Erro de sintaxe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*testing.t minúsculo não existe em Go (linha 140)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34340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/>
        </p:spPr>
      </p:sp>
      <p:sp>
        <p:nvSpPr>
          <p:cNvPr id="11" name="Fundo icone"/>
          <p:cNvSpPr/>
          <p:nvPr/>
        </p:nvSpPr>
        <p:spPr>
          <a:xfrm>
            <a:off x="4526280" y="1783080"/>
            <a:ext cx="713232" cy="7132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cone" descr="C:\Users\gusta\AppData\Local\Temp\claude\c--Users-gusta-Documents-PUC-TesteDeSoftware-TesteDeSoftware\09bfd03c-76c7-4b8c-8692-e413f11554ba\scratchpad\build\media\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11096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</a:rPr>
              <a:t>Erro estrutural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gr := GildedRose{Items: items} — struct inexistente no código real (11 erros “undefined”)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138160" y="13716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AF3EF"/>
          </a:solidFill>
          <a:ln/>
        </p:spPr>
      </p:sp>
      <p:sp>
        <p:nvSpPr>
          <p:cNvPr id="16" name="Fundo icone"/>
          <p:cNvSpPr/>
          <p:nvPr/>
        </p:nvSpPr>
        <p:spPr>
          <a:xfrm>
            <a:off x="8321040" y="1783080"/>
            <a:ext cx="713232" cy="713232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7" name="Icone" descr="C:\Users\gusta\AppData\Local\Temp\claude\c--Users-gusta-Documents-PUC-TesteDeSoftware-TesteDeSoftware\09bfd03c-76c7-4b8c-8692-e413f11554ba\scratchpad\build\media\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11096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440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AE60"/>
                </a:solidFill>
              </a:rPr>
              <a:t>Corrigido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1874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24 PASS após as duas correções — nenhuma asserção alterada</a:t>
            </a:r>
            <a:endParaRPr lang="en-US" sz="1400" dirty="0"/>
          </a:p>
        </p:txBody>
      </p:sp>
      <p:pic>
        <p:nvPicPr>
          <p:cNvPr id="20" name="Print erro Few-shot" descr="C:\Users\gusta\AppData\Local\Temp\claude\c--Users-gusta-Documents-PUC-TesteDeSoftware-TesteDeSoftware\09bfd03c-76c7-4b8c-8692-e413f11554ba\scratchpad\build\media\image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7406640" cy="2680153"/>
          </a:xfrm>
          <a:prstGeom prst="rect">
            <a:avLst/>
          </a:prstGeom>
        </p:spPr>
      </p:pic>
      <p:sp>
        <p:nvSpPr>
          <p:cNvPr id="21" name="Card"/>
          <p:cNvSpPr/>
          <p:nvPr/>
        </p:nvSpPr>
        <p:spPr>
          <a:xfrm>
            <a:off x="8229600" y="3200400"/>
            <a:ext cx="3410712" cy="2679192"/>
          </a:xfrm>
          <a:prstGeom prst="roundRect">
            <a:avLst>
              <a:gd name="adj" fmla="val 2730"/>
            </a:avLst>
          </a:prstGeom>
          <a:solidFill>
            <a:srgbClr val="F2F5F9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4124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Na Iteração 2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0" y="37490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831"/>
                </a:solidFill>
              </a:rPr>
              <a:t>O prompt estruturado descreve a API real e proíbe inventar outra. A suíte compilou de primeira, sem nenhuma adaptação.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Achado crítico — Conjured não foi testado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94D6A"/>
                </a:solidFill>
              </a:rPr>
              <a:t>Nenhuma das 5 suítes menciona Conjured. A omissão também está na implementação: não há ramo para esse tipo.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Esperado (spec)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Atual (código)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SellIn=3, Quality=6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SellIn=2, Quality=4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SellIn=2, Quality=5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SellIn=0, Quality=6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SellIn=-1, Quality=2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SellIn=-1, Quality=4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SellIn=0, Quality=3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SellIn=-1, Quality=0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SellIn=-1, Quality=1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2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388620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397764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Regra esperada: </a:t>
            </a:r>
            <a:pPr indent="0" marL="0">
              <a:buNone/>
            </a:pPr>
            <a:r>
              <a:rPr lang="en-US" sz="1500" dirty="0">
                <a:solidFill>
                  <a:srgbClr val="222831"/>
                </a:solidFill>
              </a:rPr>
              <a:t>antes da venda, a qualidade cai 2/dia; depois, 4/dia; nunca abaixo de 0. Os 3 testes manuais de Conjured falham de propósito: são a evidência da lacuna.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Outros achados da auditoria</a:t>
            </a:r>
            <a:endParaRPr lang="en-US" sz="2000" dirty="0"/>
          </a:p>
        </p:txBody>
      </p:sp>
      <p:sp>
        <p:nvSpPr>
          <p:cNvPr id="10" name="Card"/>
          <p:cNvSpPr/>
          <p:nvPr/>
        </p:nvSpPr>
        <p:spPr>
          <a:xfrm>
            <a:off x="6720840" y="2240280"/>
            <a:ext cx="491947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2313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Oráculo derivado do código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26243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A IA deduziu as regras do próprio código, que já omitia Conjured.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720840" y="3154680"/>
            <a:ext cx="491947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0372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Sulfuras = 100 legitima estado inválido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35387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Chain-of-Thought preserva Quality 100; a spec fixa Sulfuras em 80.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720840" y="4069080"/>
            <a:ext cx="491947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03720" y="4142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Faltam trajetórias de vários dias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44531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Quase todos os testes fazem uma única chamada de UpdateQuality.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720840" y="4983480"/>
            <a:ext cx="4919472" cy="804672"/>
          </a:xfrm>
          <a:prstGeom prst="roundRect">
            <a:avLst>
              <a:gd name="adj" fmla="val 9091"/>
            </a:avLst>
          </a:prstGeom>
          <a:solidFill>
            <a:srgbClr val="F2F5F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03720" y="5056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Item nil não testado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536752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Persona testa slice nil e vazio, mas nenhuma suíte testa item nil na lista.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Veredito da Iteração 1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FBEAEA"/>
          </a:solidFill>
          <a:ln w="12700">
            <a:solidFill>
              <a:srgbClr val="F2CFC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716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O falso positivo: </a:t>
            </a:r>
            <a:pPr indent="0" marL="0">
              <a:buNone/>
            </a:pPr>
            <a:r>
              <a:rPr lang="en-US" sz="1800" b="1" dirty="0">
                <a:solidFill>
                  <a:srgbClr val="222831"/>
                </a:solidFill>
              </a:rPr>
              <a:t>100% de cobertura de statement não significa 100% das regras de negócio testadas.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O que funcionou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A falha crítica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</a:rPr>
              <a:t>123 testes, 0 FAIL, 100% de cobertura de statement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</a:rPr>
              <a:t>Persona, Spec-driven e Few-shot cobrem os 34 ramos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</a:rPr>
              <a:t>Persona testa slice nil e vazio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✓"/>
            </a:pPr>
            <a:r>
              <a:rPr lang="en-US" sz="1600" dirty="0">
                <a:solidFill>
                  <a:srgbClr val="222831"/>
                </a:solidFill>
              </a:rPr>
              <a:t>Vários tipos de item na mesma chamada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69748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</a:rPr>
              <a:t>Conjured não implementado nem testado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</a:rPr>
              <a:t>Direto e CoT deixam vencimentos sem teste: item comum com Q = 0, Sulfuras vencido, Brie com Q = 50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</a:rPr>
              <a:t>Few-shot e Spec-driven alucinaram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✗"/>
            </a:pPr>
            <a:r>
              <a:rPr lang="en-US" sz="1600" dirty="0">
                <a:solidFill>
                  <a:srgbClr val="222831"/>
                </a:solidFill>
              </a:rPr>
              <a:t>Oráculo derivado do código, não da especificação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Pergunta para a Iteração 2: </a:t>
            </a:r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statement coverage não separa as suítes. Precisamos de um critério que olhe os dois lados de cada decisão e de um prompt que dê essa estrutura à IA.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ANÁLISE DE FLUXO (CFG)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Grafo de Fluxo de Controle de UpdateQuality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9</a:t>
            </a:r>
            <a:endParaRPr lang="en-US" sz="1400" dirty="0"/>
          </a:p>
        </p:txBody>
      </p:sp>
      <p:pic>
        <p:nvPicPr>
          <p:cNvPr id="5" name="CFG" descr="C:\Users\gusta\AppData\Local\Temp\claude\c--Users-gusta-Documents-PUC-TesteDeSoftware-TesteDeSoftware\09bfd03c-76c7-4b8c-8692-e413f11554ba\scratchpad\build\media\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0" cy="3526358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9006840" y="1371600"/>
            <a:ext cx="2633472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0" y="137160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29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0012680" y="14630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nós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012680" y="177393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</a:rPr>
              <a:t>B1–B29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9006840" y="2258568"/>
            <a:ext cx="2633472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0" y="2258568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45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0012680" y="235000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arestas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012680" y="266090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</a:rPr>
              <a:t>34 de decisão + 11 sequenciais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9006840" y="3145536"/>
            <a:ext cx="2633472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0" y="3145536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17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0012680" y="323697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decisões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0012680" y="3547872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</a:rPr>
              <a:t>D1–D17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9006840" y="4032504"/>
            <a:ext cx="2633472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0" y="4032504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34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412394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ramos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0012680" y="44348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</a:rPr>
              <a:t>17 decisões × 2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548640" y="51206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Granularidade: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22831"/>
                </a:solidFill>
              </a:rPr>
              <a:t>cada expressão condicional completa é uma decisão; a condição composta da linha 11 (A &amp;&amp; B) é um único nó (D2), com o curto-circuito documentado à parte.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2761"/>
                </a:solidFill>
              </a:rPr>
              <a:t>Escopo: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22831"/>
                </a:solidFill>
              </a:rPr>
              <a:t>fluxo normal com itens válidos; o panic de um item nil não vira aresta.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ANÁLISE DE FLUXO (CFG)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Complexidade ciclomática e caminhos independentes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270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6472"/>
                </a:solidFill>
              </a:rPr>
              <a:t>Pelos nós predicados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562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V(G) = P + 1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13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17 + 1 = 18</a:t>
            </a:r>
            <a:endParaRPr lang="en-US" sz="2200" dirty="0"/>
          </a:p>
        </p:txBody>
      </p:sp>
      <p:sp>
        <p:nvSpPr>
          <p:cNvPr id="9" name="Card"/>
          <p:cNvSpPr/>
          <p:nvPr/>
        </p:nvSpPr>
        <p:spPr>
          <a:xfrm>
            <a:off x="548640" y="3017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6472"/>
                </a:solidFill>
              </a:rPr>
              <a:t>Por arestas e nós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564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V(G) = E − N + 2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13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</a:rPr>
              <a:t>45 − 29 + 2 = 18</a:t>
            </a:r>
            <a:endParaRPr lang="en-US" sz="2200" dirty="0"/>
          </a:p>
        </p:txBody>
      </p:sp>
      <p:sp>
        <p:nvSpPr>
          <p:cNvPr id="13" name="Card"/>
          <p:cNvSpPr/>
          <p:nvPr/>
        </p:nvSpPr>
        <p:spPr>
          <a:xfrm>
            <a:off x="548640" y="46634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AF3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091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831"/>
                </a:solidFill>
              </a:rPr>
              <a:t>As duas fórmulas convergem: V(G) = 18 caminhos linearmente independentes, o tamanho de uma base para cobertura de caminhos.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17320"/>
          <a:ext cx="33832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96596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Saída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lista vazia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5,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4, 9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5,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4, 0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Sulfuras, 5, 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5, 80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Sulfuras, 5,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5, 0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5,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4, 11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5,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4, 50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15,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14, 11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8,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7, 12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1417320"/>
          <a:ext cx="33832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96596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Saída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8, 49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7, 50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3,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2, 13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3, 49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2, 50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0,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0, 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Sulfuras, -1, 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-1, 80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0,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0,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-1, 12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C18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0, 49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709160" y="5806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</a:rPr>
              <a:t>Entrada = (item, SellIn, Quality) · Saída = (SellIn, Quality)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ANÁLISE DE FLUXO (CFG)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Critério escolhido e proposição manual: 8 casos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11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3593592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264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A6472"/>
                </a:solidFill>
              </a:rPr>
              <a:t>Comandos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</a:rPr>
              <a:t>Toda linha executada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Iteração 1: 100% em todas as suítes.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371600"/>
            <a:ext cx="3593592" cy="1005840"/>
          </a:xfrm>
          <a:prstGeom prst="roundRect">
            <a:avLst>
              <a:gd name="adj" fmla="val 7273"/>
            </a:avLst>
          </a:prstGeom>
          <a:solidFill>
            <a:srgbClr val="EAF3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4264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</a:rPr>
              <a:t>Decisão (escolhido)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</a:rPr>
              <a:t>Cada decisão True e False: 34 ramos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Mínimo: 8 casos. É a linha do quadro final.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046720" y="1371600"/>
            <a:ext cx="3593592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14264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A6472"/>
                </a:solidFill>
              </a:rPr>
              <a:t>Caminhos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831"/>
                </a:solidFill>
              </a:rPr>
              <a:t>Base de V(G): 18 caminhos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</a:rPr>
              <a:t>18 casos. Mais forte e mais caro.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74980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463040"/>
                <a:gridCol w="1691640"/>
                <a:gridCol w="109728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Entrada (SellIn, Q)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Saída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Ramos que só ele cobre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Comum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0, 10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D4T, D16T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Comum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0, 0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D3F, D15F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M3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Sulfuras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-1, 80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-1, 80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D4F, D11F, D16F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Aged Brie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0, 10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-1, 12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D6F, D17T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Aged Brie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0, 50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-1, 50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D5F, D17F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Backstage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15, 10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14, 11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D7F, D9F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M7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Backstage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3, 49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2, 50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D8F, D10F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Backstage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0, 10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D8T, D10T, D14F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8" name="Card"/>
          <p:cNvSpPr/>
          <p:nvPr/>
        </p:nvSpPr>
        <p:spPr>
          <a:xfrm>
            <a:off x="8366760" y="2606040"/>
            <a:ext cx="3273552" cy="3474720"/>
          </a:xfrm>
          <a:prstGeom prst="roundRect">
            <a:avLst>
              <a:gd name="adj" fmla="val 2235"/>
            </a:avLst>
          </a:prstGeom>
          <a:solidFill>
            <a:srgbClr val="F2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Por que 8 é o mínimo?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31546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3172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</a:rPr>
              <a:t>Comum + Sulfuras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34564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D3F, D4T e D4F exigem três entradas diferentes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49640" y="39319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2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9006840" y="39502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</a:rPr>
              <a:t>Aged Brie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006840" y="4233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D5F e D6F não cabem no mesmo caso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47091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</a:rPr>
              <a:t>3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9006840" y="47274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831"/>
                </a:solidFill>
              </a:rPr>
              <a:t>Backstage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006840" y="5010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</a:rPr>
              <a:t>D7F, D8F e D10T forçam três ingressos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4964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3 + 2 + 3 = 8  ·  34/34 ramos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EVOLUÇÃO DO PROMPT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Do prompt ingênuo ao prompt estruturado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Problema observado na Iteração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Elemento do prompt estruturado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A IA não sabia quais caminhos existiam; o Direto testou só o óbvio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Tabela das 17 decisões com linha, condição e destino True/False (o CFG em forma de tabela)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Nenhuma meta mensurável: “suíte completa” julgada no olho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Meta explícita: 100% de decisão, 34 ramos nomeados D1T…D17F, menor conjunto possível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CoT e Persona melhoraram porque raciocinavam antes do código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Processo obrigatório em 5 etapas: condições de alcance → rastreamento → matriz → minimalidade → código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Few-shot inventou GildedRose{} e *testing.t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API real descrita, proibição de inventar outra, pacote e import já definidos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Spec-driven afirmou falhas que não ocorrem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Todos os testes devem passar; a coluna ramos de cada teste vira afirmação verificável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Guardas de Quality leem valores já alterados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Observações estruturais sobre a ordem das mutações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51206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FCF3E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770E"/>
                </a:solidFill>
              </a:rPr>
              <a:t>O que o prompt não entrega, de propósito: </a:t>
            </a:r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nenhum valor de entrada, nem os casos M1–M8, nem as fronteiras difíceis, nem Conjured. Assim medimos se a IA melhora, não se ela copia.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360920" y="5120640"/>
            <a:ext cx="4279392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43800" y="5120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Execução: </a:t>
            </a:r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ChatGPT, conversa nova, uma única tentativa, sem perguntas de acompanhamento.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AUDITORIA IA × GRAFO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Execução e validação da suíte estruturada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13</a:t>
            </a:r>
            <a:endParaRPr lang="en-US" sz="1400" dirty="0"/>
          </a:p>
        </p:txBody>
      </p:sp>
      <p:sp>
        <p:nvSpPr>
          <p:cNvPr id="5" name="Subtitulo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94D6A"/>
                </a:solidFill>
              </a:rPr>
              <a:t>Não bastou passar: executamos, medimos cada ramo e conferimos cada afirmação da IA contra o código.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2F5F9"/>
          </a:solidFill>
          <a:ln/>
        </p:spPr>
      </p:sp>
      <p:sp>
        <p:nvSpPr>
          <p:cNvPr id="7" name="Marcador"/>
          <p:cNvSpPr/>
          <p:nvPr/>
        </p:nvSpPr>
        <p:spPr>
          <a:xfrm>
            <a:off x="749808" y="19933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9933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Compilação e testes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060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Compilou de primeira, sem adaptação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8/8 testes PASS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100% de statement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Nenhuma asserção alterada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34256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2F5F9"/>
          </a:solidFill>
          <a:ln/>
        </p:spPr>
      </p:sp>
      <p:sp>
        <p:nvSpPr>
          <p:cNvPr id="12" name="Marcador"/>
          <p:cNvSpPr/>
          <p:nvPr/>
        </p:nvSpPr>
        <p:spPr>
          <a:xfrm>
            <a:off x="4535424" y="19933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35424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19933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Cobertura de decisão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26060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34/34 ramos = 100%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Medidor validado: M1–M8 dão 34/34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Sem o M8, faltam exatamente D8T, D10T e D14F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119872" y="182880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2F5F9"/>
          </a:solidFill>
          <a:ln/>
        </p:spPr>
      </p:sp>
      <p:sp>
        <p:nvSpPr>
          <p:cNvPr id="17" name="Marcador"/>
          <p:cNvSpPr/>
          <p:nvPr/>
        </p:nvSpPr>
        <p:spPr>
          <a:xfrm>
            <a:off x="8321040" y="19933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199339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Afirmações da IA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60604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Coluna ramos: 8/8 idênticas ao medido, teste a teste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34 condições de alcance × 7.644 entradas: 0 divergências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Prova do mínimo de 8: correta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49834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9834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Veredito: sem alucinação. </a:t>
            </a:r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Na Iteração 1, com a mesma LLM, Few-shot inventou API e Spec-driven afirmou falhas inexistentes.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test ./prompt_tests/estruturado -v     •     go run ./_decisioncov -matriz ./prompt_tests/estruturado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AUDITORIA IA × GRAFO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O que a IA gerou × o que o grafo exigia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14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00200"/>
                <a:gridCol w="731520"/>
                <a:gridCol w="1143000"/>
                <a:gridCol w="1051560"/>
                <a:gridCol w="24231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Saída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Caminho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Destaque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0, 49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fora da base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M7 + M8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Q = 49: satura em 50 e zera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5,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4, 13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Os dois bônus sem vencer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Backstage, 11,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10, 11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Fronteira exata SellIn = 11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0,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C17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Mesmo caminho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Aged Brie, 0,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-1, 50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fora da base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M5 (igual)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Mesma fusão do grupo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Sulfuras, -1,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-1, 10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C15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Quality 10: inválido na spec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0, 2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M1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Q = 2: menor valor para D15T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</a:rPr>
                        <a:t>T8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Comum, 0,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-1, 0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fora da base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M2 (igual)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Mesma fusão do grupo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</a:rPr>
              <a:t>Caminho = caminho da base C1–C18 (slide 10) que o teste percorre.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8412480" y="1371600"/>
            <a:ext cx="3227832" cy="1828800"/>
          </a:xfrm>
          <a:prstGeom prst="roundRect">
            <a:avLst>
              <a:gd name="adj" fmla="val 4000"/>
            </a:avLst>
          </a:prstGeom>
          <a:solidFill>
            <a:srgbClr val="EAF3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0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Acertos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810512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8 testes = mínimo manual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Achou Q = 49 e Brie com 50 sem o prompt dar valores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Fronteiras SellIn 11 e 5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412480" y="3337560"/>
            <a:ext cx="3227832" cy="2286000"/>
          </a:xfrm>
          <a:prstGeom prst="roundRect">
            <a:avLst>
              <a:gd name="adj" fmla="val 3200"/>
            </a:avLst>
          </a:prstGeom>
          <a:solidFill>
            <a:srgbClr val="FBEA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0" y="34107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Onde ficou aquém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3776472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5 dos 18 caminhos da base (manual: 6)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SellIn 10 e 6 não testados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Sulfuras com Q = 10 vira “esperado”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831"/>
                </a:solidFill>
              </a:rPr>
              <a:t>Nada sobre Conjured: não há ramo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AUDITORIA IA × GRAFO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Cobertura de decisão medida em todas as suítes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15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371600"/>
          <a:ext cx="45537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40080"/>
                <a:gridCol w="685800"/>
                <a:gridCol w="162763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Suíte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Ramos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Não cobertos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Direto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31/34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D15F, D16F, D17F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Chain-of-Thought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32/34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D15F, D17F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Persona Pattern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34/34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Spec-driven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34/34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Few-shot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34/34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Estruturado (It. 2)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</a:rPr>
                        <a:t>34/34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31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34/34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3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5440680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F2F5F9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777240" y="5440680"/>
            <a:ext cx="106372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Leitura: </a:t>
            </a:r>
            <a:pPr indent="0" marL="0">
              <a:buNone/>
            </a:pPr>
            <a:r>
              <a:rPr lang="en-US" sz="1400" dirty="0">
                <a:solidFill>
                  <a:srgbClr val="222831"/>
                </a:solidFill>
              </a:rPr>
              <a:t>os ramos que faltaram são vencimentos em fronteira — comum vencido com Q ≤ 1 (D15F), Sulfuras vencido (D16F), Brie vencido com Q ≥ 49 (D17F). O prompt estruturado cobriu os três com 8 testes.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ITERAÇÃO 2 · AUDITORIA IA × GRAFO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Lacunas da Iteração 1: o que a Iteração 2 resolveu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16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5486400"/>
                <a:gridCol w="15819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Achado da Iteração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 que a Iteração 2 fez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100% de statement escondia ramos sem teste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Cobertura de decisão medida em todas as suítes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Resolvido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Ranking subjetivo, sem meta mensurável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Meta de 34 ramos; ranking refeito pela medição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Resolvido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Alucinação de API (Few-shot)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API real no prompt; compilou de primeira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Resolvido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Alucinação de comportamento (Spec-driven)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Afirmações auditadas: 8/8 ramos, 0 divergências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</a:rPr>
                        <a:t>Resolvido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Oráculo derivado do código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O prompt pede caracterização do código atual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Persiste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Sulfuras com qualidade inválida (CoT = 100)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T6 usa Sulfuras com Quality 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Persiste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Conjured sem implementação nem teste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Sem ramo no código, fica fora do CFG; testes manuais seguem vermelhos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Persiste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Só uma chamada de UpdateQuality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Critério definido como 1 item em 1 chamada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Persiste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</a:rPr>
                        <a:t>Item nil em lista não vazia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831"/>
                          </a:solidFill>
                        </a:rPr>
                        <a:t>CFG modela só o fluxo normal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A6472"/>
                          </a:solidFill>
                        </a:rPr>
                        <a:t>Fora do escopo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94D6A"/>
                </a:solidFill>
              </a:rPr>
              <a:t>A estrutura resolveu o que era de estrutura: medição, meta e alucinação. O que depende da especificação continua precisando de auditoria humana.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ENTREGÁVEL FINAL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Quadro comparativo final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17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2862072"/>
                <a:gridCol w="2862072"/>
                <a:gridCol w="2871216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8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Iteração 1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(Prompt Ingênuo)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Abordagem Manual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(Teórica)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Iteração 2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(Prompt Estruturado)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</a:rPr>
                        <a:t>Cobertura de Decisão</a:t>
                      </a:r>
                      <a:endParaRPr lang="en-US" sz="18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C0392B"/>
                          </a:solidFill>
                        </a:rPr>
                        <a:t>91,2% detectada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31/34 ramos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7AE60"/>
                          </a:solidFill>
                        </a:rPr>
                        <a:t>100% mapeada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34/34 ramos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7AE60"/>
                          </a:solidFill>
                        </a:rPr>
                        <a:t>100% detectada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34/34 ramos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</a:rPr>
                        <a:t>Casos de Teste</a:t>
                      </a:r>
                      <a:endParaRPr lang="en-US" sz="18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22831"/>
                          </a:solidFill>
                        </a:rPr>
                        <a:t>13 gerados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acima do necessário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22831"/>
                          </a:solidFill>
                        </a:rPr>
                        <a:t>8 necessários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mínimo provado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7AE60"/>
                          </a:solidFill>
                        </a:rPr>
                        <a:t>8 gerados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igual ao mínimo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</a:rPr>
                        <a:t>Alucinações</a:t>
                      </a:r>
                      <a:endParaRPr lang="en-US" sz="18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22831"/>
                          </a:solidFill>
                        </a:rPr>
                        <a:t>Não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no Direto*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5A6472"/>
                          </a:solidFill>
                        </a:rPr>
                        <a:t>N/A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27AE60"/>
                          </a:solidFill>
                        </a:rPr>
                        <a:t>Não</a:t>
                      </a:r>
                      <a:endParaRPr lang="en-US" sz="1600" dirty="0"/>
                    </a:p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6472"/>
                          </a:solidFill>
                        </a:rPr>
                        <a:t>auditado ramo a ramo</a:t>
                      </a:r>
                      <a:endParaRPr lang="en-US" sz="16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57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</a:rPr>
              <a:t>* Prompt Ingênuo = prompt Direto (baseline). </a:t>
            </a:r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Entre as outras técnicas da Iteração 1, houve alucinação no Few-shot (API inventada) e no Spec-driven (falhas inexistentes). Mesma LLM nas duas iterações: ChatGPT.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Veredito final consolidado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18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3716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</a:rPr>
              <a:t>Iteração 1 — Direto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13 testes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31/34 ramos · 91,2%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297680" y="13716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Manual teórico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8 casos mínimos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34/34 ramos · 100%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046720" y="13716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463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</a:rPr>
              <a:t>Iteração 2 — Estruturado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8 testes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472"/>
                </a:solidFill>
              </a:rPr>
              <a:t>34/34 ramos · 100%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017520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EAF3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1089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AE60"/>
                </a:solidFill>
              </a:rPr>
              <a:t>Mensagem final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493008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831"/>
                </a:solidFill>
              </a:rPr>
              <a:t>Com a mesma LLM, o prompt estruturado levou a IA ao mínimo teórico: 34/34 ramos com 8 testes, rastreáveis e sem alucinação. Mas 100% de decisão não é 100% de caminhos (5 de 18) nem 100% dos requisitos: Conjured continua fora do grafo porque falta no código.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7726680" y="3017520"/>
            <a:ext cx="3913632" cy="1965960"/>
          </a:xfrm>
          <a:prstGeom prst="roundRect">
            <a:avLst>
              <a:gd name="adj" fmla="val 3721"/>
            </a:avLst>
          </a:prstGeom>
          <a:solidFill>
            <a:srgbClr val="F2F5F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0956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Próximos passos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493008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Implementar Conjured: os testes vermelhos viram regressão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Testes de vários dias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831"/>
                </a:solidFill>
              </a:rPr>
              <a:t>Oráculo da especificação ao lado da caracterização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1E2761"/>
                </a:solidFill>
              </a:rPr>
              <a:t>Cobertura mede o código exercitado; auditoria mede se o código certo foi exercitado.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548640" y="201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FECHAMENTO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Mostrando a execução</a:t>
            </a:r>
            <a:endParaRPr lang="en-US" sz="3200" dirty="0"/>
          </a:p>
        </p:txBody>
      </p:sp>
      <p:sp>
        <p:nvSpPr>
          <p:cNvPr id="4" name="Pagina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4D6A"/>
                </a:solidFill>
              </a:rPr>
              <a:t>19</a:t>
            </a:r>
            <a:endParaRPr lang="en-US" sz="1400" dirty="0"/>
          </a:p>
        </p:txBody>
      </p:sp>
      <p:sp>
        <p:nvSpPr>
          <p:cNvPr id="5" name="Subtitulo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94D6A"/>
                </a:solidFill>
              </a:rPr>
              <a:t>Comandos rodados a partir de gilded-rose-go/, com a saída real resumida.</a:t>
            </a:r>
            <a:endParaRPr lang="en-US" sz="1700" dirty="0"/>
          </a:p>
        </p:txBody>
      </p:sp>
      <p:sp>
        <p:nvSpPr>
          <p:cNvPr id="6" name="Terminal"/>
          <p:cNvSpPr/>
          <p:nvPr/>
        </p:nvSpPr>
        <p:spPr>
          <a:xfrm>
            <a:off x="548640" y="1783080"/>
            <a:ext cx="11094415" cy="4343400"/>
          </a:xfrm>
          <a:prstGeom prst="roundRect">
            <a:avLst>
              <a:gd name="adj" fmla="val 1684"/>
            </a:avLst>
          </a:prstGeom>
          <a:solidFill>
            <a:srgbClr val="1B1E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104543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test ./prompt_tests/estruturado -v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PASS: TestUpdateQualityCoberturaEstrutural/T1 … T8      (8/8 PASS)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run ./_decisioncov ./_decisioncov/validacao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_decisioncov/validacao           passam   34/34 (100.0%)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run ./_decisioncov ./prompt_tests/...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SUÍTE                            TESTES   DECISÃO         RAMOS NÃO COBERTOS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prompt_tests/chain_of_thought    passam   32/34 ( 94.1%)  D15F D17F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prompt_tests/direto              passam   31/34 ( 91.2%)  D15F D16F D17F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prompt_tests/estruturado         passam   34/34 (100.0%)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prompt_tests/few_shot            passam   34/34 (100.0%)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prompt_tests/persona_pattern     passam   34/34 (100.0%)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prompt_tests/spec_driven         passam   34/34 (100.0%)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 test ./manual_tests -v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FAIL: TestConjuredItemsDegradeTwiceAsFast   (3/3 FAIL)   ← lacuna de requisito, de propósito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ao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F2F5F9"/>
          </a:solidFill>
          <a:ln/>
        </p:spPr>
      </p:sp>
      <p:sp>
        <p:nvSpPr>
          <p:cNvPr id="3" name="Decoracao"/>
          <p:cNvSpPr/>
          <p:nvPr/>
        </p:nvSpPr>
        <p:spPr>
          <a:xfrm>
            <a:off x="9692640" y="4114800"/>
            <a:ext cx="3474720" cy="3474720"/>
          </a:xfrm>
          <a:prstGeom prst="ellipse">
            <a:avLst/>
          </a:prstGeom>
          <a:solidFill>
            <a:srgbClr val="E3EC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</a:rPr>
              <a:t>Obrigado!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7293"/>
                </a:solidFill>
              </a:rPr>
              <a:t>AI Quality — O Desafio Gilded Rose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2"/>
                </a:solidFill>
              </a:rPr>
              <a:t>github.com/gustavoprehl/TesteDeSoftware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Quality Gilded Rose">
  <a:themeElements>
    <a:clrScheme name="AI Quality Gilded Rose">
      <a:dk1>
        <a:srgbClr val="222831"/>
      </a:dk1>
      <a:lt1>
        <a:srgbClr val="FFFFFF"/>
      </a:lt1>
      <a:dk2>
        <a:srgbClr val="1E2761"/>
      </a:dk2>
      <a:lt2>
        <a:srgbClr val="F2F5F9"/>
      </a:lt2>
      <a:accent1>
        <a:srgbClr val="1E2761"/>
      </a:accent1>
      <a:accent2>
        <a:srgbClr val="1C7293"/>
      </a:accent2>
      <a:accent3>
        <a:srgbClr val="27AE60"/>
      </a:accent3>
      <a:accent4>
        <a:srgbClr val="C0392B"/>
      </a:accent4>
      <a:accent5>
        <a:srgbClr val="494D6A"/>
      </a:accent5>
      <a:accent6>
        <a:srgbClr val="5A6472"/>
      </a:accent6>
      <a:hlink>
        <a:srgbClr val="1C7293"/>
      </a:hlink>
      <a:folHlink>
        <a:srgbClr val="494D6A"/>
      </a:folHlink>
    </a:clrScheme>
    <a:fontScheme name="AI Quality Gilded Rose">
      <a:majorFont>
        <a:latin typeface="Rajdhan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jdhan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Quality — O Desafio Gilded Rose (Iteração 2)</dc:title>
  <dc:subject>PptxGenJS Presentation</dc:subject>
  <dc:creator>Grupo AI Quality — PUC</dc:creator>
  <cp:lastModifiedBy>Grupo AI Quality — PUC</cp:lastModifiedBy>
  <cp:revision>1</cp:revision>
  <dcterms:created xsi:type="dcterms:W3CDTF">2026-10-06T12:28:48Z</dcterms:created>
  <dcterms:modified xsi:type="dcterms:W3CDTF">2026-10-06T12:28:48Z</dcterms:modified>
</cp:coreProperties>
</file>