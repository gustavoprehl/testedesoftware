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6" r:id="rId1"/>
  </p:sldMasterIdLst>
  <p:notesMasterIdLst>
    <p:notesMasterId r:id="rId17"/>
  </p:notesMasterIdLst>
  <p:sldIdLst>
    <p:sldId id="256" r:id="rId2"/>
    <p:sldId id="257" r:id="rId3"/>
    <p:sldId id="258" r:id="rId4"/>
    <p:sldId id="268" r:id="rId5"/>
    <p:sldId id="259" r:id="rId6"/>
    <p:sldId id="260" r:id="rId7"/>
    <p:sldId id="269" r:id="rId8"/>
    <p:sldId id="261" r:id="rId9"/>
    <p:sldId id="270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4D6A"/>
    <a:srgbClr val="F2F5F9"/>
    <a:srgbClr val="FFFFFF"/>
    <a:srgbClr val="1C7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924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7F48C-316A-66C8-50EF-58FA4B56A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C7FE0-5511-D3F7-95EA-355E8407B7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1BA0E1-4D62-2956-7A51-09F61CDAD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1D7CC-469D-3F59-E107-6E48EC38B5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493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500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6F81-747A-40C6-B81B-62F051B20082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26942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B19E114-DE0F-4D79-972B-16F4D1534B50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2508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273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B9144B-27A2-4831-A05B-9434A462331E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70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0033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pt-BR"/>
              <a:t>Clique para editar os estilos de texto Mestres</a:t>
            </a:r>
          </a:p>
          <a:p>
            <a:pPr marL="228600" lvl="1" indent="-228600"/>
            <a:r>
              <a:rPr lang="pt-BR"/>
              <a:t>Segundo nível</a:t>
            </a:r>
          </a:p>
          <a:p>
            <a:pPr marL="228600" lvl="2" indent="-228600"/>
            <a:r>
              <a:rPr lang="pt-BR"/>
              <a:t>Terceiro nível</a:t>
            </a:r>
          </a:p>
          <a:p>
            <a:pPr marL="228600" lvl="3" indent="-228600"/>
            <a:r>
              <a:rPr lang="pt-BR"/>
              <a:t>Quarto nível</a:t>
            </a:r>
          </a:p>
          <a:p>
            <a:pPr marL="228600" lvl="4" indent="-22860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704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83489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4097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9/1/2026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79553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9/1/2026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17492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9/1/2026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767617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0C9DF407-AAD9-4F9F-B512-267BEB339CF5}" type="datetime1">
              <a:rPr lang="en-US" smtClean="0"/>
              <a:t>9/1/2026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8989773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9/1/2026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8301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9/1/2026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62739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9/1/2026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2411504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0C9DF407-AAD9-4F9F-B512-267BEB339CF5}" type="datetime1">
              <a:rPr lang="en-US" smtClean="0"/>
              <a:t>9/1/2026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528303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9/1/2026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195263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BB35E-97D9-4AD8-9F03-F1A28F5EDD3F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11298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70690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5E6B9-2D9C-4660-92C5-78965463CC8F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2114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9/1/2026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118941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9/1/2026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739066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307554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C9DBE-31FF-4D71-B719-92EBAC3193CE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736885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559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505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9554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69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  <p:sldLayoutId id="2147483784" r:id="rId18"/>
    <p:sldLayoutId id="2147483785" r:id="rId19"/>
    <p:sldLayoutId id="2147483786" r:id="rId20"/>
    <p:sldLayoutId id="2147483787" r:id="rId21"/>
    <p:sldLayoutId id="2147483788" r:id="rId22"/>
    <p:sldLayoutId id="2147483789" r:id="rId23"/>
    <p:sldLayoutId id="2147483790" r:id="rId24"/>
    <p:sldLayoutId id="2147483791" r:id="rId25"/>
    <p:sldLayoutId id="2147483792" r:id="rId26"/>
    <p:sldLayoutId id="2147483793" r:id="rId27"/>
    <p:sldLayoutId id="2147483794" r:id="rId2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2.png"/><Relationship Id="rId5" Type="http://schemas.openxmlformats.org/officeDocument/2006/relationships/slide" Target="slide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572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607040" y="3931920"/>
            <a:ext cx="2926080" cy="2926080"/>
          </a:xfrm>
          <a:prstGeom prst="ellipse">
            <a:avLst/>
          </a:prstGeom>
          <a:solidFill>
            <a:srgbClr val="1C7293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494D6A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O Desafio Gilded Rose</a:t>
            </a:r>
            <a:endParaRPr lang="en-US" sz="5000" dirty="0">
              <a:solidFill>
                <a:srgbClr val="494D6A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5A6472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Testes unitários gerados por IA sob auditoria: 5 técnicas de prompt, um kata clássico e uma lacuna que 100% de cobertura não revelou.</a:t>
            </a:r>
            <a:endParaRPr lang="en-US" sz="20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822960" y="434340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Go</a:t>
            </a:r>
            <a:endParaRPr lang="en-US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920240" y="434340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1920240" y="4343400"/>
            <a:ext cx="13716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>
            <a:lvl1pPr indent="0" algn="ctr">
              <a:buNone/>
              <a:defRPr sz="1100" b="1">
                <a:solidFill>
                  <a:srgbClr val="1E276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defRPr>
            </a:lvl1pPr>
          </a:lstStyle>
          <a:p>
            <a:r>
              <a:rPr lang="en-US" sz="1800" dirty="0"/>
              <a:t>ChatGPT</a:t>
            </a:r>
          </a:p>
        </p:txBody>
      </p:sp>
      <p:sp>
        <p:nvSpPr>
          <p:cNvPr id="12" name="Shape 10"/>
          <p:cNvSpPr/>
          <p:nvPr/>
        </p:nvSpPr>
        <p:spPr>
          <a:xfrm>
            <a:off x="3383280" y="4343400"/>
            <a:ext cx="2712720" cy="365760"/>
          </a:xfrm>
          <a:prstGeom prst="roundRect">
            <a:avLst>
              <a:gd name="adj" fmla="val 20000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3508899" y="4343400"/>
            <a:ext cx="258710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>
            <a:lvl1pPr indent="0" algn="ctr">
              <a:buNone/>
              <a:defRPr sz="1100" b="1">
                <a:solidFill>
                  <a:srgbClr val="1E276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defRPr>
            </a:lvl1pPr>
          </a:lstStyle>
          <a:p>
            <a:r>
              <a:rPr lang="en-US" sz="1800" dirty="0"/>
              <a:t>Gilded Rose Kata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buClr>
                <a:srgbClr val="FFFFFF"/>
              </a:buClr>
              <a:buSzPts val="1400"/>
            </a:pPr>
            <a:r>
              <a:rPr lang="en-US" sz="1200" b="1" dirty="0">
                <a:latin typeface="Inter"/>
                <a:ea typeface="Inter"/>
                <a:cs typeface="Inter"/>
                <a:sym typeface="Inter"/>
              </a:rPr>
              <a:t>Arthur Lara Panzera   •   Albert Luis •  Diogo Caribe   •   Felipe Augusto Pereira  •  Gabriel Reis Lebron   •   Gustavo Azi Prehl Gama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E2761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Setup do experimento</a:t>
            </a:r>
            <a:endParaRPr lang="en-US" sz="50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pt-BR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92667" y="1416371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Objetivo: investigar se diferentes técnicas de prompt engineering mudam a qualidade dos testes unitários gerados </a:t>
            </a:r>
            <a:r>
              <a:rPr lang="en-US" dirty="0" err="1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por</a:t>
            </a:r>
            <a:r>
              <a:rPr lang="en-US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 IA, e auditar criticamente se cobrem de fato as regras de negócio do kata, não apenas o código como ele foi escrito.</a:t>
            </a:r>
            <a:endParaRPr lang="en-US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79120" y="2592325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Configuração</a:t>
            </a:r>
            <a:endParaRPr lang="en-US" sz="2600" dirty="0">
              <a:latin typeface="Rajdhani" panose="020B0604020202020204" charset="0"/>
              <a:cs typeface="Rajdhani" panose="020B0604020202020204" charset="0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225031"/>
              </p:ext>
            </p:extLst>
          </p:nvPr>
        </p:nvGraphicFramePr>
        <p:xfrm>
          <a:off x="548640" y="3053062"/>
          <a:ext cx="5120640" cy="18288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Linguagem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Go</a:t>
                      </a:r>
                      <a:endParaRPr lang="en-US" sz="1800" dirty="0">
                        <a:latin typeface="Rajdhani" panose="020B0604020202020204" charset="0"/>
                        <a:ea typeface="Calibri" charset="0"/>
                        <a:cs typeface="Rajdhani" panose="020B060402020202020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utilizada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ChatGPT</a:t>
                      </a:r>
                      <a:endParaRPr lang="en-US" sz="1800" dirty="0">
                        <a:latin typeface="Rajdhani" panose="020B0604020202020204" charset="0"/>
                        <a:ea typeface="Calibri" charset="0"/>
                        <a:cs typeface="Rajdhani" panose="020B060402020202020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Kata base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Gilded Rose (Emily Bache)</a:t>
                      </a:r>
                      <a:endParaRPr lang="en-US" sz="1800" dirty="0">
                        <a:latin typeface="Rajdhani" panose="020B0604020202020204" charset="0"/>
                        <a:ea typeface="Calibri" charset="0"/>
                        <a:cs typeface="Rajdhani" panose="020B060402020202020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Repositório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i="1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https://github.com/gustavoprehl/TesteDeSoftware</a:t>
                      </a:r>
                      <a:endParaRPr lang="en-US" sz="1800" dirty="0">
                        <a:latin typeface="Rajdhani" panose="020B0604020202020204" charset="0"/>
                        <a:ea typeface="Calibri" charset="0"/>
                        <a:cs typeface="Rajdhani" panose="020B060402020202020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943600" y="256799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Estrutura da equipe</a:t>
            </a:r>
            <a:endParaRPr lang="en-US" sz="2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852160" y="3111937"/>
            <a:ext cx="5577840" cy="945413"/>
          </a:xfrm>
          <a:prstGeom prst="roundRect">
            <a:avLst>
              <a:gd name="adj" fmla="val 7059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pt-BR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035040" y="318509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Dupla 1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035040" y="341369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Engenharia de Prompt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6035040" y="364229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Testar e documentar as 5 técnicas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852160" y="4167078"/>
            <a:ext cx="5577840" cy="890545"/>
          </a:xfrm>
          <a:prstGeom prst="roundRect">
            <a:avLst>
              <a:gd name="adj" fmla="val 7059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pt-BR" sz="160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6035040" y="4240231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Dupla 2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6035040" y="4468831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Implementação em Go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6035040" y="4697431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Integrar testes, corrigir erros, capturar evidências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852160" y="5253227"/>
            <a:ext cx="5577840" cy="917421"/>
          </a:xfrm>
          <a:prstGeom prst="roundRect">
            <a:avLst>
              <a:gd name="adj" fmla="val 7059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pt-BR" sz="160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6035040" y="53263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Dupla 3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6035040" y="55549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Auditoria &amp; Análise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6035040" y="578358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Auditar cobertura, escrever veredito, montar slides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74F8DCE3-74D5-4D56-7A0C-AFFA5E64930A}"/>
              </a:ext>
            </a:extLst>
          </p:cNvPr>
          <p:cNvSpPr/>
          <p:nvPr/>
        </p:nvSpPr>
        <p:spPr>
          <a:xfrm>
            <a:off x="-870373" y="4983480"/>
            <a:ext cx="2926080" cy="2926080"/>
          </a:xfrm>
          <a:prstGeom prst="ellipse">
            <a:avLst/>
          </a:prstGeom>
          <a:solidFill>
            <a:srgbClr val="1C7293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2671C30-ED74-A2A0-108B-9F53FA2F8A04}"/>
              </a:ext>
            </a:extLst>
          </p:cNvPr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- O Desafio Gilded Rose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1">
            <a:extLst>
              <a:ext uri="{FF2B5EF4-FFF2-40B4-BE49-F238E27FC236}">
                <a16:creationId xmlns:a16="http://schemas.microsoft.com/office/drawing/2014/main" id="{86D1F9D3-9CE2-A894-380E-A13F15D530C8}"/>
              </a:ext>
            </a:extLst>
          </p:cNvPr>
          <p:cNvSpPr/>
          <p:nvPr/>
        </p:nvSpPr>
        <p:spPr>
          <a:xfrm>
            <a:off x="9144000" y="-1295400"/>
            <a:ext cx="4572000" cy="4572000"/>
          </a:xfrm>
          <a:prstGeom prst="ellipse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O código </a:t>
            </a:r>
            <a:r>
              <a:rPr lang="en-US" sz="4000" b="1" dirty="0" err="1">
                <a:solidFill>
                  <a:srgbClr val="1E2761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legado</a:t>
            </a:r>
            <a:r>
              <a:rPr lang="en-US" sz="4000" b="1" dirty="0">
                <a:solidFill>
                  <a:srgbClr val="1E2761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 - gildedrose.go</a:t>
            </a:r>
            <a:endParaRPr lang="en-US" sz="40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51180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 sz="160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68680" y="14020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Função central:  </a:t>
            </a:r>
            <a:r>
              <a:rPr lang="en-US" sz="1600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UpdateQuality(items []Item), iterando sobre []Item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07873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 sz="160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68680" y="196900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Struct:  </a:t>
            </a:r>
            <a:r>
              <a:rPr lang="en-US" sz="1600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Item { Name string; SellIn, Quality int }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64566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 sz="160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68680" y="253593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Tipos tratados:  </a:t>
            </a:r>
            <a:r>
              <a:rPr lang="en-US" sz="1600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Normal, Aged Brie, Sulfuras, Backstage Passes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21259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 sz="160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68680" y="310286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Regras de limite:  </a:t>
            </a:r>
            <a:r>
              <a:rPr lang="en-US" sz="1600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Quality nunca &lt; 0 nem &gt; 50 (exceto Sulfuras, fixo)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6355080" cy="1478280"/>
          </a:xfrm>
          <a:prstGeom prst="roundRect">
            <a:avLst>
              <a:gd name="adj" fmla="val 3871"/>
            </a:avLst>
          </a:prstGeom>
          <a:solidFill>
            <a:srgbClr val="FBEA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77240" y="4096512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0392B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Ponto crítico (revelado na auditoria)</a:t>
            </a:r>
            <a:r>
              <a:rPr lang="en-US" sz="1250" b="1" dirty="0">
                <a:solidFill>
                  <a:srgbClr val="C0392B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
</a:t>
            </a:r>
            <a:r>
              <a:rPr lang="en-US" sz="1400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O fixture de demonstração do kata cita “Conjured Mana Cake”, mas o código não implementa a regra de </a:t>
            </a:r>
            <a:r>
              <a:rPr lang="en-US" sz="1400" dirty="0" err="1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degradação</a:t>
            </a:r>
            <a:r>
              <a:rPr lang="en-US" sz="1400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 </a:t>
            </a:r>
            <a:r>
              <a:rPr lang="en-US" sz="1400" dirty="0" err="1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dupla</a:t>
            </a:r>
            <a:r>
              <a:rPr lang="en-US" sz="1400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, não há nenhum if para esse tipo.</a:t>
            </a:r>
            <a:endParaRPr lang="en-US" sz="14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5A6472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3</a:t>
            </a:r>
            <a:endParaRPr lang="en-US" sz="2000" dirty="0">
              <a:latin typeface="Rajdhani" panose="020B0604020202020204" charset="0"/>
              <a:cs typeface="Rajdhani" panose="020B0604020202020204" charset="0"/>
            </a:endParaRPr>
          </a:p>
        </p:txBody>
      </p:sp>
      <p:pic>
        <p:nvPicPr>
          <p:cNvPr id="22" name="Imagem 21" descr="Teste1.png">
            <a:hlinkClick r:id="rId3" action="ppaction://hlinksldjump"/>
            <a:extLst>
              <a:ext uri="{FF2B5EF4-FFF2-40B4-BE49-F238E27FC236}">
                <a16:creationId xmlns:a16="http://schemas.microsoft.com/office/drawing/2014/main" id="{2C49AE23-ED31-B014-23EE-A55A181EF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370753"/>
            <a:ext cx="4408536" cy="3666914"/>
          </a:xfrm>
          <a:prstGeom prst="rect">
            <a:avLst/>
          </a:prstGeom>
        </p:spPr>
      </p:pic>
      <p:sp>
        <p:nvSpPr>
          <p:cNvPr id="24" name="Shape 2">
            <a:extLst>
              <a:ext uri="{FF2B5EF4-FFF2-40B4-BE49-F238E27FC236}">
                <a16:creationId xmlns:a16="http://schemas.microsoft.com/office/drawing/2014/main" id="{9D1A36B1-AF82-0812-8DBE-32F777CC5CAA}"/>
              </a:ext>
            </a:extLst>
          </p:cNvPr>
          <p:cNvSpPr/>
          <p:nvPr/>
        </p:nvSpPr>
        <p:spPr>
          <a:xfrm>
            <a:off x="-1463040" y="-1592580"/>
            <a:ext cx="2926080" cy="2926080"/>
          </a:xfrm>
          <a:prstGeom prst="ellipse">
            <a:avLst/>
          </a:prstGeom>
          <a:solidFill>
            <a:schemeClr val="accent6">
              <a:lumMod val="50000"/>
              <a:alpha val="12000"/>
            </a:scheme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21">
            <a:extLst>
              <a:ext uri="{FF2B5EF4-FFF2-40B4-BE49-F238E27FC236}">
                <a16:creationId xmlns:a16="http://schemas.microsoft.com/office/drawing/2014/main" id="{5268656B-7C78-C30B-850F-40A2A457C099}"/>
              </a:ext>
            </a:extLst>
          </p:cNvPr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- O Desafio Gilded Rose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E3788C-0CDE-5AD4-A354-7207F6873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 descr="Teste1.png">
            <a:extLst>
              <a:ext uri="{FF2B5EF4-FFF2-40B4-BE49-F238E27FC236}">
                <a16:creationId xmlns:a16="http://schemas.microsoft.com/office/drawing/2014/main" id="{2B1A1F2F-6812-5835-28DA-AD6B51716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1" cy="685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11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761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Metodologia</a:t>
            </a:r>
            <a:r>
              <a:rPr lang="en-US" sz="3000" b="1" dirty="0">
                <a:solidFill>
                  <a:srgbClr val="1E2761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 - 5 técnicas de prompt testadas</a:t>
            </a:r>
            <a:endParaRPr lang="en-US" sz="30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011680" cy="4480560"/>
          </a:xfrm>
          <a:prstGeom prst="roundRect">
            <a:avLst>
              <a:gd name="adj" fmla="val 2727"/>
            </a:avLst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pt-BR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13232" y="16184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1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Direto</a:t>
            </a:r>
            <a:endParaRPr lang="en-US" sz="20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85800" y="283464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Colar o código e </a:t>
            </a:r>
            <a:r>
              <a:rPr lang="en-US" sz="1600" b="1" dirty="0" err="1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pedir</a:t>
            </a:r>
            <a:r>
              <a:rPr lang="en-US" sz="1600" b="1" dirty="0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 a </a:t>
            </a:r>
            <a:r>
              <a:rPr lang="en-US" sz="1600" b="1" dirty="0" err="1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suíte</a:t>
            </a:r>
            <a:r>
              <a:rPr lang="en-US" sz="1600" b="1" dirty="0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 </a:t>
            </a:r>
            <a:r>
              <a:rPr lang="en-US" sz="1600" b="1" dirty="0" err="1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diretamente</a:t>
            </a:r>
            <a:endParaRPr lang="en-US" sz="1600" b="1" dirty="0">
              <a:latin typeface="Inter" panose="020B0604020202020204" charset="0"/>
              <a:ea typeface="Inter" panose="020B0604020202020204" charset="0"/>
              <a:cs typeface="Rajdhani" panose="020B06040202020202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4688501"/>
            <a:ext cx="1737360" cy="621792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pt-BR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85800" y="4663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13 testes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88336" y="1417320"/>
            <a:ext cx="2011680" cy="4480560"/>
          </a:xfrm>
          <a:prstGeom prst="roundRect">
            <a:avLst>
              <a:gd name="adj" fmla="val 2727"/>
            </a:avLst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pt-BR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852928" y="16184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2852928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2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825496" y="219456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Chain-of-Thought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2825496" y="283464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Raciocínio passo a </a:t>
            </a:r>
            <a:r>
              <a:rPr lang="en-US" sz="1600" b="1" dirty="0" err="1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passo</a:t>
            </a:r>
            <a:r>
              <a:rPr lang="en-US" sz="1600" b="1" dirty="0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 antes do </a:t>
            </a:r>
            <a:r>
              <a:rPr lang="en-US" sz="1600" b="1" dirty="0" err="1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código</a:t>
            </a:r>
            <a:endParaRPr lang="en-US" sz="1600" b="1" dirty="0">
              <a:latin typeface="Inter" panose="020B0604020202020204" charset="0"/>
              <a:ea typeface="Inter" panose="020B0604020202020204" charset="0"/>
              <a:cs typeface="Rajdhani" panose="020B060402020202020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825496" y="4708313"/>
            <a:ext cx="1737360" cy="64008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pt-BR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2825496" y="4822613"/>
            <a:ext cx="173736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6 funções + subtestes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55464" y="1417320"/>
            <a:ext cx="2011680" cy="4480560"/>
          </a:xfrm>
          <a:prstGeom prst="roundRect">
            <a:avLst>
              <a:gd name="adj" fmla="val 2727"/>
            </a:avLst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pt-BR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992624" y="16184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4992624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3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4965192" y="219456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Persona Pattern</a:t>
            </a:r>
          </a:p>
        </p:txBody>
      </p:sp>
      <p:sp>
        <p:nvSpPr>
          <p:cNvPr id="21" name="Text 19"/>
          <p:cNvSpPr txBox="1"/>
          <p:nvPr/>
        </p:nvSpPr>
        <p:spPr>
          <a:xfrm>
            <a:off x="5056632" y="292608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600" b="1" dirty="0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Papel de Senior QA Engineer, 15 </a:t>
            </a:r>
            <a:r>
              <a:rPr lang="en-US" sz="1600" b="1" dirty="0" err="1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anos</a:t>
            </a:r>
            <a:endParaRPr lang="en-US" sz="1600" b="1" dirty="0">
              <a:latin typeface="Inter" panose="020B0604020202020204" charset="0"/>
              <a:ea typeface="Inter" panose="020B0604020202020204" charset="0"/>
              <a:cs typeface="Rajdhani" panose="020B060402020202020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992624" y="4704588"/>
            <a:ext cx="1737360" cy="644652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pt-BR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5010912" y="48234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ctr">
              <a:buNone/>
              <a:defRPr sz="1600" b="1">
                <a:solidFill>
                  <a:srgbClr val="FFFFFF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defRPr>
            </a:lvl1pPr>
          </a:lstStyle>
          <a:p>
            <a:r>
              <a:rPr lang="en-US" dirty="0"/>
              <a:t>8 funções + </a:t>
            </a:r>
            <a:r>
              <a:rPr lang="en-US" dirty="0" err="1"/>
              <a:t>subtestes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967728" y="1417320"/>
            <a:ext cx="2011680" cy="4480560"/>
          </a:xfrm>
          <a:prstGeom prst="roundRect">
            <a:avLst>
              <a:gd name="adj" fmla="val 2727"/>
            </a:avLst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pt-BR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132320" y="16184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713232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4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7104888" y="219456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Few-shot</a:t>
            </a:r>
          </a:p>
        </p:txBody>
      </p:sp>
      <p:sp>
        <p:nvSpPr>
          <p:cNvPr id="28" name="Text 26"/>
          <p:cNvSpPr txBox="1"/>
          <p:nvPr/>
        </p:nvSpPr>
        <p:spPr>
          <a:xfrm>
            <a:off x="7104888" y="283464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lnSpc>
                <a:spcPct val="115000"/>
              </a:lnSpc>
              <a:buNone/>
            </a:pPr>
            <a:r>
              <a:rPr lang="en-US" sz="1600" b="1" dirty="0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Template AAA </a:t>
            </a:r>
            <a:r>
              <a:rPr lang="en-US" sz="1600" b="1" dirty="0" err="1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fornecido</a:t>
            </a:r>
            <a:r>
              <a:rPr lang="en-US" sz="1600" b="1" dirty="0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 </a:t>
            </a:r>
            <a:r>
              <a:rPr lang="en-US" sz="1600" b="1" dirty="0" err="1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como</a:t>
            </a:r>
            <a:r>
              <a:rPr lang="en-US" sz="1600" b="1" dirty="0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 </a:t>
            </a:r>
            <a:r>
              <a:rPr lang="en-US" sz="1600" b="1" dirty="0" err="1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exemplo</a:t>
            </a:r>
            <a:endParaRPr lang="en-US" sz="1600" b="1" dirty="0">
              <a:latin typeface="Inter" panose="020B0604020202020204" charset="0"/>
              <a:ea typeface="Inter" panose="020B0604020202020204" charset="0"/>
              <a:cs typeface="Rajdhani" panose="020B060402020202020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104888" y="4710006"/>
            <a:ext cx="1737360" cy="6629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pt-BR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7123176" y="482430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ctr">
              <a:buNone/>
              <a:defRPr sz="1600" b="1">
                <a:solidFill>
                  <a:srgbClr val="FFFFFF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defRPr>
            </a:lvl1pPr>
          </a:lstStyle>
          <a:p>
            <a:r>
              <a:rPr lang="en-US" dirty="0"/>
              <a:t>24 testes</a:t>
            </a:r>
          </a:p>
        </p:txBody>
      </p:sp>
      <p:sp>
        <p:nvSpPr>
          <p:cNvPr id="31" name="Shape 29"/>
          <p:cNvSpPr/>
          <p:nvPr/>
        </p:nvSpPr>
        <p:spPr>
          <a:xfrm>
            <a:off x="9107424" y="1417320"/>
            <a:ext cx="2011680" cy="4480560"/>
          </a:xfrm>
          <a:prstGeom prst="roundRect">
            <a:avLst>
              <a:gd name="adj" fmla="val 2727"/>
            </a:avLst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pt-BR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272016" y="16184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9272016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5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9244584" y="219456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Spec-driven (</a:t>
            </a:r>
            <a:r>
              <a:rPr lang="en-US" sz="2000" b="1" dirty="0" err="1">
                <a:solidFill>
                  <a:srgbClr val="1E2761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bônus</a:t>
            </a:r>
            <a:r>
              <a:rPr lang="en-US" sz="2000" b="1" dirty="0">
                <a:solidFill>
                  <a:srgbClr val="1E2761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)</a:t>
            </a:r>
          </a:p>
        </p:txBody>
      </p:sp>
      <p:sp>
        <p:nvSpPr>
          <p:cNvPr id="35" name="Text 33"/>
          <p:cNvSpPr txBox="1"/>
          <p:nvPr/>
        </p:nvSpPr>
        <p:spPr>
          <a:xfrm>
            <a:off x="9244584" y="283464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600" b="1" dirty="0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Regras de </a:t>
            </a:r>
            <a:r>
              <a:rPr lang="en-US" sz="1600" b="1" dirty="0" err="1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negócio</a:t>
            </a:r>
            <a:r>
              <a:rPr lang="en-US" sz="1600" b="1" dirty="0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 </a:t>
            </a:r>
            <a:r>
              <a:rPr lang="en-US" sz="1600" b="1" dirty="0" err="1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explícitas</a:t>
            </a:r>
            <a:r>
              <a:rPr lang="en-US" sz="1600" b="1" dirty="0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 no </a:t>
            </a:r>
            <a:r>
              <a:rPr lang="en-US" sz="1600" b="1" dirty="0" err="1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preâmbulo</a:t>
            </a:r>
            <a:endParaRPr lang="en-US" sz="1600" b="1" dirty="0">
              <a:latin typeface="Inter" panose="020B0604020202020204" charset="0"/>
              <a:ea typeface="Inter" panose="020B0604020202020204" charset="0"/>
              <a:cs typeface="Rajdhani" panose="020B060402020202020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253728" y="4701540"/>
            <a:ext cx="1737360" cy="646853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pt-BR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9272016" y="4822613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23 testes</a:t>
            </a:r>
          </a:p>
        </p:txBody>
      </p:sp>
      <p:sp>
        <p:nvSpPr>
          <p:cNvPr id="39" name="Text 3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C704694A-0397-CFF2-1871-149945EE0D71}"/>
              </a:ext>
            </a:extLst>
          </p:cNvPr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- O Desafio Gilded Rose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88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Resultados comparativos e ranking</a:t>
            </a:r>
            <a:endParaRPr lang="en-US" sz="4000" dirty="0">
              <a:latin typeface="Rajdhani" panose="020B0604020202020204" charset="0"/>
              <a:cs typeface="Rajdhani" panose="020B0604020202020204" charset="0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742214"/>
              </p:ext>
            </p:extLst>
          </p:nvPr>
        </p:nvGraphicFramePr>
        <p:xfrm>
          <a:off x="626532" y="1371600"/>
          <a:ext cx="11001587" cy="29464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3004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8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89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14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85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Técnica</a:t>
                      </a:r>
                      <a:endParaRPr lang="en-US" sz="1800" dirty="0">
                        <a:latin typeface="Rajdhani" panose="020B0604020202020204" charset="0"/>
                        <a:ea typeface="Calibri" charset="0"/>
                        <a:cs typeface="Rajdhani" panose="020B06040202020202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Nº testes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Compila?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Cobertura de borda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Ranking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5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kern="1200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Persona Pattern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8 (+subtestes)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kern="1200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Sim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kern="1200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Mais completa; único com nil/vazio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kern="1200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1º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5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kern="1200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Chain-of-Thought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kern="1200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6 (+subtestes)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kern="1200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Sim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kern="1200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Boa; amplia contrato de Sulfuras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kern="1200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2º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4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kern="1200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Spec-driven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kern="1200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23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kern="1200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Sim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kern="1200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Boa; metadado incorreto sobre falhas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kern="1200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3º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5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kern="1200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Direto (baseline)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kern="1200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13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kern="1200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Sim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kern="1200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Superficial - só valores no limite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kern="1200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4º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5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kern="1200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Few-shot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kern="1200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24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kern="1200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Não → corrigido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kern="1200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Boa, após correção estrutural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kern="1200" dirty="0">
                          <a:solidFill>
                            <a:srgbClr val="222831"/>
                          </a:solidFill>
                          <a:latin typeface="Rajdhani" panose="020B0604020202020204" charset="0"/>
                          <a:ea typeface="Calibri" pitchFamily="34" charset="-122"/>
                          <a:cs typeface="Rajdhani" panose="020B0604020202020204" charset="0"/>
                        </a:rPr>
                        <a:t>5º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63880" y="47091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AF3E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pt-BR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pic>
        <p:nvPicPr>
          <p:cNvPr id="10" name="Imagem 9">
            <a:hlinkClick r:id="rId3" action="ppaction://hlinksldjump"/>
            <a:extLst>
              <a:ext uri="{FF2B5EF4-FFF2-40B4-BE49-F238E27FC236}">
                <a16:creationId xmlns:a16="http://schemas.microsoft.com/office/drawing/2014/main" id="{AEE6EACF-CD63-E751-291B-2EFAEA2D3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624315"/>
            <a:ext cx="11170920" cy="10383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 21">
            <a:extLst>
              <a:ext uri="{FF2B5EF4-FFF2-40B4-BE49-F238E27FC236}">
                <a16:creationId xmlns:a16="http://schemas.microsoft.com/office/drawing/2014/main" id="{143A5A3A-0670-0C5B-AA45-A0BF0073F45F}"/>
              </a:ext>
            </a:extLst>
          </p:cNvPr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- O Desafio Gilded Rose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Teste5_1.png">
            <a:extLst>
              <a:ext uri="{FF2B5EF4-FFF2-40B4-BE49-F238E27FC236}">
                <a16:creationId xmlns:a16="http://schemas.microsoft.com/office/drawing/2014/main" id="{70EF5703-72FE-A8B1-6533-EFBFC6E34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0"/>
            <a:ext cx="9397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203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7">
            <a:extLst>
              <a:ext uri="{FF2B5EF4-FFF2-40B4-BE49-F238E27FC236}">
                <a16:creationId xmlns:a16="http://schemas.microsoft.com/office/drawing/2014/main" id="{EA271AD7-A59C-8A30-81B3-18B1FD50A952}"/>
              </a:ext>
            </a:extLst>
          </p:cNvPr>
          <p:cNvSpPr/>
          <p:nvPr/>
        </p:nvSpPr>
        <p:spPr>
          <a:xfrm>
            <a:off x="499533" y="1451697"/>
            <a:ext cx="3474720" cy="1817283"/>
          </a:xfrm>
          <a:prstGeom prst="roundRect">
            <a:avLst>
              <a:gd name="adj" fmla="val 2400"/>
            </a:avLst>
          </a:prstGeom>
          <a:solidFill>
            <a:schemeClr val="tx1">
              <a:lumMod val="10000"/>
              <a:lumOff val="90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Estudo de caso: Few-shot - de RED a GREEN</a:t>
            </a:r>
            <a:endParaRPr lang="en-US" sz="30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38893" y="1450145"/>
            <a:ext cx="2058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Erro de sintaxe</a:t>
            </a:r>
            <a:endParaRPr lang="en-US" sz="2200" b="1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525798" y="1819375"/>
            <a:ext cx="2244593" cy="1242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testing.t minúsculo não existe em Go (linha 140)</a:t>
            </a:r>
          </a:p>
        </p:txBody>
      </p:sp>
      <p:sp>
        <p:nvSpPr>
          <p:cNvPr id="9" name="Shape 7"/>
          <p:cNvSpPr/>
          <p:nvPr/>
        </p:nvSpPr>
        <p:spPr>
          <a:xfrm>
            <a:off x="4206240" y="1429700"/>
            <a:ext cx="3474720" cy="1794423"/>
          </a:xfrm>
          <a:prstGeom prst="roundRect">
            <a:avLst>
              <a:gd name="adj" fmla="val 2400"/>
            </a:avLst>
          </a:prstGeom>
          <a:solidFill>
            <a:schemeClr val="tx1">
              <a:lumMod val="10000"/>
              <a:lumOff val="90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000518" y="1447860"/>
            <a:ext cx="20168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Erro estrutural</a:t>
            </a:r>
            <a:endParaRPr lang="en-US" sz="22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250384" y="1866605"/>
            <a:ext cx="2365395" cy="123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gr := GildedRose{Items: items} - struct inexistente no código real (11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erros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 “undefined”)</a:t>
            </a:r>
          </a:p>
        </p:txBody>
      </p:sp>
      <p:sp>
        <p:nvSpPr>
          <p:cNvPr id="13" name="Shape 11"/>
          <p:cNvSpPr/>
          <p:nvPr/>
        </p:nvSpPr>
        <p:spPr>
          <a:xfrm>
            <a:off x="548639" y="3829825"/>
            <a:ext cx="5274191" cy="1936761"/>
          </a:xfrm>
          <a:prstGeom prst="roundRect">
            <a:avLst>
              <a:gd name="adj" fmla="val 3871"/>
            </a:avLst>
          </a:prstGeom>
          <a:solidFill>
            <a:srgbClr val="EAF3E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pt-BR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12947" y="1429700"/>
            <a:ext cx="3474720" cy="1794423"/>
          </a:xfrm>
          <a:prstGeom prst="roundRect">
            <a:avLst>
              <a:gd name="adj" fmla="val 2400"/>
            </a:avLst>
          </a:prstGeom>
          <a:solidFill>
            <a:schemeClr val="tx1">
              <a:lumMod val="10000"/>
              <a:lumOff val="90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9019653" y="1447860"/>
            <a:ext cx="1334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27AE60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Corrigido</a:t>
            </a:r>
            <a:endParaRPr lang="en-US" sz="22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9088092" y="1866605"/>
            <a:ext cx="2037559" cy="114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24 PASS após as duas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correções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,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nenhuma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asserção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alterada</a:t>
            </a:r>
            <a:endParaRPr lang="en-US" sz="1500" dirty="0">
              <a:latin typeface="Inter" panose="020B0604020202020204" charset="0"/>
              <a:ea typeface="Inter" panose="020B0604020202020204" charset="0"/>
              <a:cs typeface="Rajdhani" panose="020B0604020202020204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Google Shape;136;p7">
            <a:extLst>
              <a:ext uri="{FF2B5EF4-FFF2-40B4-BE49-F238E27FC236}">
                <a16:creationId xmlns:a16="http://schemas.microsoft.com/office/drawing/2014/main" id="{7C4DA9F4-04E7-46C9-8FAF-824549868510}"/>
              </a:ext>
            </a:extLst>
          </p:cNvPr>
          <p:cNvSpPr/>
          <p:nvPr/>
        </p:nvSpPr>
        <p:spPr>
          <a:xfrm>
            <a:off x="692764" y="205740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pic>
        <p:nvPicPr>
          <p:cNvPr id="39" name="Google Shape;137;p7" descr="icons/warning_white.png">
            <a:extLst>
              <a:ext uri="{FF2B5EF4-FFF2-40B4-BE49-F238E27FC236}">
                <a16:creationId xmlns:a16="http://schemas.microsoft.com/office/drawing/2014/main" id="{02E0DDE7-A8BD-716E-E3BF-7753D2B3D6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644" y="22402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136;p7">
            <a:extLst>
              <a:ext uri="{FF2B5EF4-FFF2-40B4-BE49-F238E27FC236}">
                <a16:creationId xmlns:a16="http://schemas.microsoft.com/office/drawing/2014/main" id="{F2A6C31B-3804-F4C4-3F98-63E2C02CB397}"/>
              </a:ext>
            </a:extLst>
          </p:cNvPr>
          <p:cNvSpPr/>
          <p:nvPr/>
        </p:nvSpPr>
        <p:spPr>
          <a:xfrm>
            <a:off x="4333664" y="205740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pic>
        <p:nvPicPr>
          <p:cNvPr id="49" name="Google Shape;137;p7" descr="icons/warning_white.png">
            <a:extLst>
              <a:ext uri="{FF2B5EF4-FFF2-40B4-BE49-F238E27FC236}">
                <a16:creationId xmlns:a16="http://schemas.microsoft.com/office/drawing/2014/main" id="{5C5D3712-4FE7-65B8-D213-6C0CA3B170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6544" y="22402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42;p4">
            <a:extLst>
              <a:ext uri="{FF2B5EF4-FFF2-40B4-BE49-F238E27FC236}">
                <a16:creationId xmlns:a16="http://schemas.microsoft.com/office/drawing/2014/main" id="{C9CE0316-3902-3DC4-7C35-C298738BD893}"/>
              </a:ext>
            </a:extLst>
          </p:cNvPr>
          <p:cNvSpPr/>
          <p:nvPr/>
        </p:nvSpPr>
        <p:spPr>
          <a:xfrm>
            <a:off x="8054820" y="2031521"/>
            <a:ext cx="822960" cy="8229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" name="Google Shape;43;p4" descr="icons/chart_white.png">
            <a:extLst>
              <a:ext uri="{FF2B5EF4-FFF2-40B4-BE49-F238E27FC236}">
                <a16:creationId xmlns:a16="http://schemas.microsoft.com/office/drawing/2014/main" id="{0243189C-EC8E-049E-6264-E3D5DDEB2A5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65132" y="2241833"/>
            <a:ext cx="402336" cy="402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Imagem 53" descr="Teste3.png">
            <a:hlinkClick r:id="rId5" action="ppaction://hlinksldjump"/>
            <a:extLst>
              <a:ext uri="{FF2B5EF4-FFF2-40B4-BE49-F238E27FC236}">
                <a16:creationId xmlns:a16="http://schemas.microsoft.com/office/drawing/2014/main" id="{19609CE5-C140-C85B-A105-F769CF920C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533" y="3395486"/>
            <a:ext cx="10888133" cy="305103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Text 21">
            <a:extLst>
              <a:ext uri="{FF2B5EF4-FFF2-40B4-BE49-F238E27FC236}">
                <a16:creationId xmlns:a16="http://schemas.microsoft.com/office/drawing/2014/main" id="{B973CB0B-F84E-FFD0-1DB8-93BE4D4B8325}"/>
              </a:ext>
            </a:extLst>
          </p:cNvPr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- O Desafio Gilded Rose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Teste3.png">
            <a:extLst>
              <a:ext uri="{FF2B5EF4-FFF2-40B4-BE49-F238E27FC236}">
                <a16:creationId xmlns:a16="http://schemas.microsoft.com/office/drawing/2014/main" id="{DDAEBB06-858A-4D1F-E03B-5524180B3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0" y="966158"/>
            <a:ext cx="1220216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00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115;p7">
            <a:extLst>
              <a:ext uri="{FF2B5EF4-FFF2-40B4-BE49-F238E27FC236}">
                <a16:creationId xmlns:a16="http://schemas.microsoft.com/office/drawing/2014/main" id="{459F1AC4-72E1-1D0D-B6AC-48355B73907B}"/>
              </a:ext>
            </a:extLst>
          </p:cNvPr>
          <p:cNvSpPr/>
          <p:nvPr/>
        </p:nvSpPr>
        <p:spPr>
          <a:xfrm>
            <a:off x="4064000" y="3978810"/>
            <a:ext cx="7467600" cy="2467710"/>
          </a:xfrm>
          <a:prstGeom prst="roundRect">
            <a:avLst>
              <a:gd name="adj" fmla="val 5882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" name="Google Shape;115;p7">
            <a:extLst>
              <a:ext uri="{FF2B5EF4-FFF2-40B4-BE49-F238E27FC236}">
                <a16:creationId xmlns:a16="http://schemas.microsoft.com/office/drawing/2014/main" id="{FFC7396A-2965-C9FE-950E-0ECCA4A2F8E1}"/>
              </a:ext>
            </a:extLst>
          </p:cNvPr>
          <p:cNvSpPr/>
          <p:nvPr/>
        </p:nvSpPr>
        <p:spPr>
          <a:xfrm>
            <a:off x="4064000" y="1149964"/>
            <a:ext cx="7467600" cy="2794714"/>
          </a:xfrm>
          <a:prstGeom prst="roundRect">
            <a:avLst>
              <a:gd name="adj" fmla="val 5882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Evidências consolidadas</a:t>
            </a:r>
            <a:endParaRPr lang="en-US" sz="40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48640" y="2697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-3088640" y="4664667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AI Quality — O Desafio Gilded Rose</a:t>
            </a:r>
            <a:endParaRPr lang="en-US" sz="9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5A6472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7</a:t>
            </a:r>
            <a:endParaRPr lang="en-US" sz="2000" dirty="0">
              <a:latin typeface="Rajdhani" panose="020B0604020202020204" charset="0"/>
              <a:cs typeface="Rajdhani" panose="020B0604020202020204" charset="0"/>
            </a:endParaRPr>
          </a:p>
        </p:txBody>
      </p:sp>
      <p:pic>
        <p:nvPicPr>
          <p:cNvPr id="23" name="Imagem 22" descr="Teste6_1.png">
            <a:extLst>
              <a:ext uri="{FF2B5EF4-FFF2-40B4-BE49-F238E27FC236}">
                <a16:creationId xmlns:a16="http://schemas.microsoft.com/office/drawing/2014/main" id="{825B91A4-6A4F-EFEE-120B-B0BABFD65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080" y="4069080"/>
            <a:ext cx="7335520" cy="222261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5" name="Google Shape;115;p7">
            <a:extLst>
              <a:ext uri="{FF2B5EF4-FFF2-40B4-BE49-F238E27FC236}">
                <a16:creationId xmlns:a16="http://schemas.microsoft.com/office/drawing/2014/main" id="{478FEC0A-CD1A-21BA-A7D4-C68A4B3A4D7B}"/>
              </a:ext>
            </a:extLst>
          </p:cNvPr>
          <p:cNvSpPr/>
          <p:nvPr/>
        </p:nvSpPr>
        <p:spPr>
          <a:xfrm>
            <a:off x="335280" y="1219143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Text 2"/>
          <p:cNvSpPr txBox="1"/>
          <p:nvPr/>
        </p:nvSpPr>
        <p:spPr>
          <a:xfrm>
            <a:off x="335280" y="1460471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131</a:t>
            </a:r>
            <a:endParaRPr lang="en-US" sz="34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330200" y="2204719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testes executados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27" name="Google Shape;115;p7">
            <a:extLst>
              <a:ext uri="{FF2B5EF4-FFF2-40B4-BE49-F238E27FC236}">
                <a16:creationId xmlns:a16="http://schemas.microsoft.com/office/drawing/2014/main" id="{E45B369F-AC8B-4B74-A282-3801DAC41795}"/>
              </a:ext>
            </a:extLst>
          </p:cNvPr>
          <p:cNvSpPr/>
          <p:nvPr/>
        </p:nvSpPr>
        <p:spPr>
          <a:xfrm>
            <a:off x="335280" y="2959158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7" name="Text 5"/>
          <p:cNvSpPr txBox="1"/>
          <p:nvPr/>
        </p:nvSpPr>
        <p:spPr>
          <a:xfrm>
            <a:off x="330200" y="318373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0</a:t>
            </a:r>
            <a:endParaRPr lang="en-US" sz="34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35280" y="394467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FAIL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29" name="Google Shape;115;p7">
            <a:extLst>
              <a:ext uri="{FF2B5EF4-FFF2-40B4-BE49-F238E27FC236}">
                <a16:creationId xmlns:a16="http://schemas.microsoft.com/office/drawing/2014/main" id="{E2DB7B8E-A239-695A-F256-5E7D737F04C1}"/>
              </a:ext>
            </a:extLst>
          </p:cNvPr>
          <p:cNvSpPr/>
          <p:nvPr/>
        </p:nvSpPr>
        <p:spPr>
          <a:xfrm>
            <a:off x="335280" y="466344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0B8EFD2E-2A21-E4B8-020B-A8EAC0652134}"/>
              </a:ext>
            </a:extLst>
          </p:cNvPr>
          <p:cNvSpPr txBox="1"/>
          <p:nvPr/>
        </p:nvSpPr>
        <p:spPr>
          <a:xfrm>
            <a:off x="335280" y="4768808"/>
            <a:ext cx="3520440" cy="68580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FFFF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100%</a:t>
            </a:r>
            <a:endParaRPr lang="en-US" sz="34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330200" y="5604410"/>
            <a:ext cx="352044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cobertura de statement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8B2EEA99-EADF-0983-8FE0-9411023D0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6080" y="1297826"/>
            <a:ext cx="7233920" cy="25249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0392B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Achado </a:t>
            </a:r>
            <a:r>
              <a:rPr lang="en-US" sz="4000" b="1" dirty="0" err="1">
                <a:solidFill>
                  <a:srgbClr val="C0392B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crítico</a:t>
            </a:r>
            <a:r>
              <a:rPr lang="en-US" sz="4000" b="1" dirty="0">
                <a:solidFill>
                  <a:srgbClr val="C0392B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 - Conjured não foi testado</a:t>
            </a:r>
            <a:endParaRPr lang="en-US" sz="40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Nenhuma das 5 suítes menciona Conjured. A omissão também está </a:t>
            </a:r>
            <a:r>
              <a:rPr lang="en-US" dirty="0" err="1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na</a:t>
            </a:r>
            <a:r>
              <a:rPr lang="en-US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 </a:t>
            </a:r>
            <a:r>
              <a:rPr lang="en-US" dirty="0" err="1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implementação</a:t>
            </a:r>
            <a:r>
              <a:rPr lang="en-US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, não há ramo if para esse tipo em gildedrose.go.</a:t>
            </a:r>
            <a:endParaRPr lang="en-US" dirty="0">
              <a:latin typeface="Rajdhani" panose="020B0604020202020204" charset="0"/>
              <a:cs typeface="Rajdhani" panose="020B0604020202020204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570595"/>
              </p:ext>
            </p:extLst>
          </p:nvPr>
        </p:nvGraphicFramePr>
        <p:xfrm>
          <a:off x="1463040" y="1828800"/>
          <a:ext cx="9235440" cy="20116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Cenário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kern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Esperado (spec)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kern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 (código)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400" b="1" kern="120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SellIn=3, Quality=6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400" b="1" kern="120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SellIn=2, Quality=4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400" b="1" kern="120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SellIn=2, Quality=5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400" b="1" kern="120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SellIn=0, Quality=6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400" b="1" kern="120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SellIn=-1, Quality=2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400" b="1" kern="120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SellIn=-1, Quality=4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400" b="1" kern="120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SellIn=0, Quality=3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400" b="1" kern="120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SellIn=-1, Quality=0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400" b="1" kern="1200" dirty="0">
                          <a:solidFill>
                            <a:srgbClr val="2228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SellIn=-1, Quality=1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7764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pt-BR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" y="411480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Regra esperada (especificação canônica):  </a:t>
            </a:r>
            <a:r>
              <a:rPr lang="en-US" sz="1600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antes da venda, qualidade cai 2/dia; após expirar, cai 4/dia (o dobro de um item normal expirado); nunca abaixo de 0; SellIn continua caindo 1/dia.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Até o Spec-driven, 23 casos, cobertura minuciosa dos 4 </a:t>
            </a:r>
            <a:r>
              <a:rPr lang="en-US" sz="1200" i="1" dirty="0" err="1">
                <a:solidFill>
                  <a:srgbClr val="5A6472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tipos</a:t>
            </a:r>
            <a:r>
              <a:rPr lang="en-US" sz="1200" i="1" dirty="0">
                <a:solidFill>
                  <a:srgbClr val="5A6472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 </a:t>
            </a:r>
            <a:r>
              <a:rPr lang="en-US" sz="1200" i="1" dirty="0" err="1">
                <a:solidFill>
                  <a:srgbClr val="5A6472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conhecidos</a:t>
            </a:r>
            <a:r>
              <a:rPr lang="en-US" sz="1200" i="1" dirty="0">
                <a:solidFill>
                  <a:srgbClr val="5A6472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, não incluiu Conjured.</a:t>
            </a:r>
            <a:endParaRPr lang="en-US" sz="12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4" name="Text 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5" name="Text 21">
            <a:extLst>
              <a:ext uri="{FF2B5EF4-FFF2-40B4-BE49-F238E27FC236}">
                <a16:creationId xmlns:a16="http://schemas.microsoft.com/office/drawing/2014/main" id="{AF116C71-ABCA-9C78-099F-4D11FC9E1BBC}"/>
              </a:ext>
            </a:extLst>
          </p:cNvPr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- O Desafio Gilded Rose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Outros achados da auditoria</a:t>
            </a:r>
            <a:endParaRPr lang="en-US" sz="40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pt-BR" sz="160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" cy="84124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 sz="160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142646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Oráculo derivado do </a:t>
            </a:r>
            <a:r>
              <a:rPr lang="en-US" b="1" dirty="0" err="1">
                <a:solidFill>
                  <a:srgbClr val="1E276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código</a:t>
            </a:r>
            <a:endParaRPr lang="en-US" b="1" dirty="0">
              <a:solidFill>
                <a:srgbClr val="1E2761"/>
              </a:solidFill>
              <a:latin typeface="Rajdhani" panose="020B0604020202020204" charset="0"/>
              <a:ea typeface="Calibri" pitchFamily="34" charset="-122"/>
              <a:cs typeface="Rajdhani" panose="020B060402020202020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14400" y="1746504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Os prompts pediram que a IA deduzisse regras do </a:t>
            </a:r>
            <a:r>
              <a:rPr lang="en-US" sz="1600" dirty="0" err="1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próprio</a:t>
            </a:r>
            <a:r>
              <a:rPr lang="en-US" sz="1600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 Código, que já omitia Conjured. Os testes herdaram a mesma omissão.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32257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pt-BR" sz="160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322576"/>
            <a:ext cx="73152" cy="84124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 sz="160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22960" y="237744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“Persona é </a:t>
            </a:r>
            <a:r>
              <a:rPr lang="en-US" b="1" dirty="0" err="1">
                <a:solidFill>
                  <a:srgbClr val="1E276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definitiva</a:t>
            </a:r>
            <a:r>
              <a:rPr lang="en-US" b="1" dirty="0">
                <a:solidFill>
                  <a:srgbClr val="1E276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” é forte </a:t>
            </a:r>
            <a:r>
              <a:rPr lang="en-US" b="1" dirty="0" err="1">
                <a:solidFill>
                  <a:srgbClr val="1E276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demais</a:t>
            </a:r>
            <a:endParaRPr lang="en-US" b="1" dirty="0">
              <a:solidFill>
                <a:srgbClr val="1E2761"/>
              </a:solidFill>
              <a:latin typeface="Rajdhani" panose="020B0604020202020204" charset="0"/>
              <a:ea typeface="Calibri" pitchFamily="34" charset="-122"/>
              <a:cs typeface="Rajdhani" panose="020B060402020202020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914400" y="2688336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A suíte mais completa entre as 4 </a:t>
            </a:r>
            <a:r>
              <a:rPr lang="en-US" sz="1600" dirty="0" err="1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nativas</a:t>
            </a:r>
            <a:r>
              <a:rPr lang="en-US" sz="1600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, mas também omite Conjured. O ranking se mantém; a conclusão precisa de ressalva.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27355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pt-BR" sz="160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273552"/>
            <a:ext cx="73152" cy="8412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 sz="160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22960" y="332841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Sulfuras=100 legitima </a:t>
            </a:r>
            <a:r>
              <a:rPr lang="en-US" b="1" dirty="0" err="1">
                <a:solidFill>
                  <a:srgbClr val="1E276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estado</a:t>
            </a:r>
            <a:r>
              <a:rPr lang="en-US" b="1" dirty="0">
                <a:solidFill>
                  <a:srgbClr val="1E276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 </a:t>
            </a:r>
            <a:r>
              <a:rPr lang="en-US" b="1" dirty="0" err="1">
                <a:solidFill>
                  <a:srgbClr val="1E276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inválido</a:t>
            </a:r>
            <a:endParaRPr lang="en-US" b="1" dirty="0">
              <a:solidFill>
                <a:srgbClr val="1E2761"/>
              </a:solidFill>
              <a:latin typeface="Rajdhani" panose="020B0604020202020204" charset="0"/>
              <a:ea typeface="Calibri" pitchFamily="34" charset="-122"/>
              <a:cs typeface="Rajdhani" panose="020B060402020202020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914400" y="3639312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Chain-of-Thought exige que Quality=100 seja preservado; a spec define Sulfuras com qualidade fixa em 80.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422452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pt-BR" sz="160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4224528"/>
            <a:ext cx="73152" cy="841248"/>
          </a:xfrm>
          <a:prstGeom prst="rect">
            <a:avLst/>
          </a:prstGeom>
          <a:solidFill>
            <a:srgbClr val="5A6472"/>
          </a:solidFill>
          <a:ln/>
        </p:spPr>
        <p:txBody>
          <a:bodyPr/>
          <a:lstStyle/>
          <a:p>
            <a:endParaRPr lang="pt-BR" sz="160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22960" y="427939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1E276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Faltam</a:t>
            </a:r>
            <a:r>
              <a:rPr lang="en-US" b="1" dirty="0">
                <a:solidFill>
                  <a:srgbClr val="1E276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 </a:t>
            </a:r>
            <a:r>
              <a:rPr lang="en-US" b="1" dirty="0" err="1">
                <a:solidFill>
                  <a:srgbClr val="1E276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trajetórias</a:t>
            </a:r>
            <a:r>
              <a:rPr lang="en-US" b="1" dirty="0">
                <a:solidFill>
                  <a:srgbClr val="1E276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 multi-</a:t>
            </a:r>
            <a:r>
              <a:rPr lang="en-US" b="1" dirty="0" err="1">
                <a:solidFill>
                  <a:srgbClr val="1E276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dia</a:t>
            </a:r>
            <a:endParaRPr lang="en-US" b="1" dirty="0">
              <a:solidFill>
                <a:srgbClr val="1E2761"/>
              </a:solidFill>
              <a:latin typeface="Rajdhani" panose="020B0604020202020204" charset="0"/>
              <a:ea typeface="Calibri" pitchFamily="34" charset="-122"/>
              <a:cs typeface="Rajdhani" panose="020B0604020202020204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28040" y="4599432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Quase todas as suítes testam uma única chamada de </a:t>
            </a:r>
            <a:r>
              <a:rPr lang="en-US" sz="1600" dirty="0" err="1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UpdateQuality</a:t>
            </a:r>
            <a:r>
              <a:rPr lang="en-US" sz="1600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, nenhuma simula vários dias passando.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517550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pt-BR" sz="160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5175504"/>
            <a:ext cx="73152" cy="841248"/>
          </a:xfrm>
          <a:prstGeom prst="rect">
            <a:avLst/>
          </a:prstGeom>
          <a:solidFill>
            <a:srgbClr val="5A6472"/>
          </a:solidFill>
          <a:ln/>
        </p:spPr>
        <p:txBody>
          <a:bodyPr/>
          <a:lstStyle/>
          <a:p>
            <a:endParaRPr lang="pt-BR" sz="160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822960" y="523036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Robustez de ponteiros não coberta</a:t>
            </a:r>
            <a:endParaRPr lang="en-US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822960" y="5505704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Persona testa slice nil/vazio, mas nenhuma suíte testa item nil dentro de um slice não vazio.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- O Desafio Gilded Rose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Veredito final</a:t>
            </a:r>
            <a:endParaRPr lang="en-US" sz="40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BEA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 sz="160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C0392B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O falso positivo:  </a:t>
            </a:r>
            <a:r>
              <a:rPr lang="en-US" b="1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100% de cobertura de statement, sem cobertura de 100% das regras de negócio.</a:t>
            </a:r>
            <a:endParaRPr lang="en-US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7AE60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O que funcionou bem</a:t>
            </a:r>
            <a:endParaRPr lang="en-US" sz="24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✓"/>
            </a:pPr>
            <a:r>
              <a:rPr lang="en-US" sz="1600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131 testes, 0 FAIL, 100% de cobertura de statement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  <a:p>
            <a:pPr marL="342900" indent="-342900">
              <a:lnSpc>
                <a:spcPct val="125000"/>
              </a:lnSpc>
              <a:buSzPct val="100000"/>
              <a:buChar char="✓"/>
            </a:pPr>
            <a:r>
              <a:rPr lang="en-US" sz="1600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Itens normais, Aged Brie, Sulfuras e Backstage bem cobertos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  <a:p>
            <a:pPr marL="342900" indent="-342900">
              <a:lnSpc>
                <a:spcPct val="125000"/>
              </a:lnSpc>
              <a:buSzPct val="100000"/>
              <a:buChar char="✓"/>
            </a:pPr>
            <a:r>
              <a:rPr lang="en-US" sz="1600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Persona Pattern testa slice nil e vazio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  <a:p>
            <a:pPr marL="342900" indent="-342900">
              <a:lnSpc>
                <a:spcPct val="125000"/>
              </a:lnSpc>
              <a:buSzPct val="100000"/>
              <a:buChar char="✓"/>
            </a:pPr>
            <a:r>
              <a:rPr lang="en-US" sz="1600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Múltiplos itens de tipos diferentes na mesma chamada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217920" y="2606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A falha crítica</a:t>
            </a:r>
            <a:endParaRPr lang="en-US" sz="24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217920" y="301752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✗"/>
            </a:pPr>
            <a:r>
              <a:rPr lang="en-US" sz="1600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Conjured não implementado nem testado por nenhuma técnica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  <a:p>
            <a:pPr marL="342900" indent="-342900">
              <a:lnSpc>
                <a:spcPct val="125000"/>
              </a:lnSpc>
              <a:buSzPct val="100000"/>
              <a:buChar char="✗"/>
            </a:pPr>
            <a:r>
              <a:rPr lang="en-US" sz="1600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Oráculo derivado do código, não da especificação original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  <a:p>
            <a:pPr marL="342900" indent="-342900">
              <a:lnSpc>
                <a:spcPct val="125000"/>
              </a:lnSpc>
              <a:buSzPct val="100000"/>
              <a:buChar char="✗"/>
            </a:pPr>
            <a:r>
              <a:rPr lang="en-US" sz="1600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Erro de implementação torna-se invisível para o teste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pt-BR" sz="160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Causa raiz:  </a:t>
            </a:r>
            <a:r>
              <a:rPr lang="en-US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pedir à IA que derive o oráculo do próprio código-fonte, em vez da especificação, é um risco estrutural.</a:t>
            </a:r>
            <a:endParaRPr lang="en-US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A6472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10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4" name="Text 21">
            <a:extLst>
              <a:ext uri="{FF2B5EF4-FFF2-40B4-BE49-F238E27FC236}">
                <a16:creationId xmlns:a16="http://schemas.microsoft.com/office/drawing/2014/main" id="{861AD170-1377-2045-7D2E-53E25558CF3C}"/>
              </a:ext>
            </a:extLst>
          </p:cNvPr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- O Desafio Gilded Rose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5;p7">
            <a:extLst>
              <a:ext uri="{FF2B5EF4-FFF2-40B4-BE49-F238E27FC236}">
                <a16:creationId xmlns:a16="http://schemas.microsoft.com/office/drawing/2014/main" id="{1456BF3F-FC12-1784-E3DB-60F2537F9268}"/>
              </a:ext>
            </a:extLst>
          </p:cNvPr>
          <p:cNvSpPr/>
          <p:nvPr/>
        </p:nvSpPr>
        <p:spPr>
          <a:xfrm>
            <a:off x="638090" y="1678940"/>
            <a:ext cx="5135880" cy="80264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30000"/>
              </a:lnSpc>
              <a:buSzPct val="100000"/>
            </a:pPr>
            <a:r>
              <a:rPr lang="en-US" sz="1600" b="1" dirty="0" err="1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Cobertura</a:t>
            </a:r>
            <a:r>
              <a:rPr lang="en-US" sz="1600" b="1" dirty="0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 de statement </a:t>
            </a:r>
            <a:r>
              <a:rPr lang="en-US" sz="1600" b="1" dirty="0" err="1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não</a:t>
            </a:r>
            <a:r>
              <a:rPr lang="en-US" sz="1600" b="1" dirty="0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 </a:t>
            </a:r>
            <a:r>
              <a:rPr lang="en-US" sz="1600" b="1" dirty="0" err="1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mede</a:t>
            </a:r>
            <a:r>
              <a:rPr lang="en-US" sz="1600" b="1" dirty="0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 </a:t>
            </a:r>
            <a:r>
              <a:rPr lang="en-US" sz="1600" b="1" dirty="0" err="1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qualidade</a:t>
            </a:r>
            <a:r>
              <a:rPr lang="en-US" sz="1600" b="1" dirty="0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 de teste</a:t>
            </a:r>
            <a:endParaRPr sz="1600" b="1" dirty="0">
              <a:solidFill>
                <a:srgbClr val="494D6A"/>
              </a:solidFill>
              <a:latin typeface="Inter" panose="020B0604020202020204" charset="0"/>
              <a:ea typeface="Inter" panose="020B0604020202020204" charset="0"/>
              <a:cs typeface="Rajdhani" panose="020B0604020202020204" charset="0"/>
            </a:endParaRPr>
          </a:p>
        </p:txBody>
      </p:sp>
      <p:sp>
        <p:nvSpPr>
          <p:cNvPr id="2" name="Text 0"/>
          <p:cNvSpPr txBox="1"/>
          <p:nvPr/>
        </p:nvSpPr>
        <p:spPr>
          <a:xfrm>
            <a:off x="411480" y="6223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1E2761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Lições</a:t>
            </a:r>
            <a:r>
              <a:rPr lang="en-US" sz="4000" b="1" dirty="0">
                <a:solidFill>
                  <a:srgbClr val="1E2761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 e </a:t>
            </a:r>
            <a:r>
              <a:rPr lang="en-US" sz="4000" b="1" dirty="0" err="1">
                <a:solidFill>
                  <a:srgbClr val="1E2761"/>
                </a:solidFill>
                <a:latin typeface="Rajdhani" panose="020B0604020202020204" charset="0"/>
                <a:ea typeface="Cambria" pitchFamily="34" charset="-122"/>
                <a:cs typeface="Rajdhani" panose="020B0604020202020204" charset="0"/>
              </a:rPr>
              <a:t>recomendações</a:t>
            </a:r>
            <a:endParaRPr lang="en-US" sz="40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229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1064240" cy="1554480"/>
          </a:xfrm>
          <a:prstGeom prst="roundRect">
            <a:avLst>
              <a:gd name="adj" fmla="val 3871"/>
            </a:avLst>
          </a:prstGeom>
          <a:solidFill>
            <a:srgbClr val="EAF3E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pt-BR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4114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7AE60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Recomendação final</a:t>
            </a:r>
            <a:r>
              <a:rPr lang="en-US" b="1" dirty="0">
                <a:solidFill>
                  <a:srgbClr val="27AE60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
</a:t>
            </a:r>
            <a:r>
              <a:rPr lang="en-US" sz="1600" dirty="0">
                <a:solidFill>
                  <a:srgbClr val="222831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Manter os testes manuais de Conjured vermelhos como evidência da auditoria até a equipe implementar a regra em produção. Depois da correção, esses mesmos testes tornam-se regressão permanente.</a:t>
            </a:r>
            <a:endParaRPr lang="en-US" sz="160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94360" y="572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Conclusão: a IA acelera a escrita de testes e antecipa casos de </a:t>
            </a:r>
            <a:r>
              <a:rPr lang="en-US" b="1" dirty="0" err="1"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borda</a:t>
            </a:r>
            <a:r>
              <a:rPr lang="en-US" b="1" dirty="0"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, mas não substitui verificação humana: execução real e validação contra a especificação original.</a:t>
            </a:r>
            <a:endParaRPr lang="en-US" b="1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5A6472"/>
                </a:solidFill>
                <a:latin typeface="Rajdhani" panose="020B0604020202020204" charset="0"/>
                <a:ea typeface="Calibri" pitchFamily="34" charset="-122"/>
                <a:cs typeface="Rajdhani" panose="020B0604020202020204" charset="0"/>
              </a:rPr>
              <a:t>11</a:t>
            </a:r>
            <a:endParaRPr lang="en-US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3" name="Google Shape;115;p7">
            <a:extLst>
              <a:ext uri="{FF2B5EF4-FFF2-40B4-BE49-F238E27FC236}">
                <a16:creationId xmlns:a16="http://schemas.microsoft.com/office/drawing/2014/main" id="{AA1E2EAB-D526-6118-B96C-0F7165B48735}"/>
              </a:ext>
            </a:extLst>
          </p:cNvPr>
          <p:cNvSpPr/>
          <p:nvPr/>
        </p:nvSpPr>
        <p:spPr>
          <a:xfrm>
            <a:off x="6336960" y="1651000"/>
            <a:ext cx="5321640" cy="80264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30000"/>
              </a:lnSpc>
              <a:buSzPct val="100000"/>
            </a:pPr>
            <a:r>
              <a:rPr lang="en-US" sz="1600" b="1" dirty="0" err="1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Derivar</a:t>
            </a:r>
            <a:r>
              <a:rPr lang="en-US" sz="1600" b="1" dirty="0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 o </a:t>
            </a:r>
            <a:r>
              <a:rPr lang="en-US" sz="1600" b="1" dirty="0" err="1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oráculo</a:t>
            </a:r>
            <a:r>
              <a:rPr lang="en-US" sz="1600" b="1" dirty="0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 do </a:t>
            </a:r>
            <a:r>
              <a:rPr lang="en-US" sz="1600" b="1" dirty="0" err="1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próprio</a:t>
            </a:r>
            <a:r>
              <a:rPr lang="en-US" sz="1600" b="1" dirty="0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 </a:t>
            </a:r>
            <a:r>
              <a:rPr lang="en-US" sz="1600" b="1" dirty="0" err="1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código</a:t>
            </a:r>
            <a:r>
              <a:rPr lang="en-US" sz="1600" b="1" dirty="0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 mascara </a:t>
            </a:r>
            <a:r>
              <a:rPr lang="en-US" sz="1600" b="1" dirty="0" err="1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erros</a:t>
            </a:r>
            <a:r>
              <a:rPr lang="en-US" sz="1600" b="1" dirty="0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 de </a:t>
            </a:r>
            <a:r>
              <a:rPr lang="en-US" sz="1600" b="1" dirty="0" err="1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implementação</a:t>
            </a:r>
            <a:endParaRPr lang="en-US" sz="1600" b="1" dirty="0">
              <a:solidFill>
                <a:srgbClr val="494D6A"/>
              </a:solidFill>
              <a:latin typeface="Inter" panose="020B0604020202020204" charset="0"/>
              <a:ea typeface="Inter" panose="020B0604020202020204" charset="0"/>
              <a:cs typeface="Rajdhani" panose="020B0604020202020204" charset="0"/>
            </a:endParaRPr>
          </a:p>
        </p:txBody>
      </p:sp>
      <p:sp>
        <p:nvSpPr>
          <p:cNvPr id="15" name="Google Shape;115;p7">
            <a:extLst>
              <a:ext uri="{FF2B5EF4-FFF2-40B4-BE49-F238E27FC236}">
                <a16:creationId xmlns:a16="http://schemas.microsoft.com/office/drawing/2014/main" id="{AED618B8-3067-5702-3361-2725D1795696}"/>
              </a:ext>
            </a:extLst>
          </p:cNvPr>
          <p:cNvSpPr/>
          <p:nvPr/>
        </p:nvSpPr>
        <p:spPr>
          <a:xfrm>
            <a:off x="638090" y="2669540"/>
            <a:ext cx="5135880" cy="80264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30000"/>
              </a:lnSpc>
              <a:buSzPct val="100000"/>
            </a:pPr>
            <a:r>
              <a:rPr lang="en-US" sz="1600" b="1" dirty="0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A </a:t>
            </a:r>
            <a:r>
              <a:rPr lang="en-US" sz="1600" b="1" dirty="0" err="1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técnica</a:t>
            </a:r>
            <a:r>
              <a:rPr lang="en-US" sz="1600" b="1" dirty="0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 de prompt continua </a:t>
            </a:r>
            <a:r>
              <a:rPr lang="en-US" sz="1600" b="1" dirty="0" err="1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importando</a:t>
            </a:r>
            <a:r>
              <a:rPr lang="en-US" sz="1600" b="1" dirty="0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 mas para outro </a:t>
            </a:r>
            <a:r>
              <a:rPr lang="en-US" sz="1600" b="1" dirty="0" err="1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tipo</a:t>
            </a:r>
            <a:r>
              <a:rPr lang="en-US" sz="1600" b="1" dirty="0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 de </a:t>
            </a:r>
            <a:r>
              <a:rPr lang="en-US" sz="1600" b="1" dirty="0" err="1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erro</a:t>
            </a:r>
            <a:endParaRPr lang="en-US" sz="1600" b="1" dirty="0">
              <a:solidFill>
                <a:srgbClr val="494D6A"/>
              </a:solidFill>
              <a:latin typeface="Inter" panose="020B0604020202020204" charset="0"/>
              <a:ea typeface="Inter" panose="020B0604020202020204" charset="0"/>
              <a:cs typeface="Rajdhani" panose="020B0604020202020204" charset="0"/>
            </a:endParaRPr>
          </a:p>
        </p:txBody>
      </p:sp>
      <p:sp>
        <p:nvSpPr>
          <p:cNvPr id="17" name="Google Shape;115;p7">
            <a:extLst>
              <a:ext uri="{FF2B5EF4-FFF2-40B4-BE49-F238E27FC236}">
                <a16:creationId xmlns:a16="http://schemas.microsoft.com/office/drawing/2014/main" id="{EB327A9B-45B1-39A4-3F36-0D6B7B6BDE4C}"/>
              </a:ext>
            </a:extLst>
          </p:cNvPr>
          <p:cNvSpPr/>
          <p:nvPr/>
        </p:nvSpPr>
        <p:spPr>
          <a:xfrm>
            <a:off x="6336960" y="2641600"/>
            <a:ext cx="5321640" cy="80264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30000"/>
              </a:lnSpc>
              <a:buSzPct val="100000"/>
            </a:pPr>
            <a:r>
              <a:rPr lang="en-US" sz="1600" b="1" dirty="0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Few-shot </a:t>
            </a:r>
            <a:r>
              <a:rPr lang="en-US" sz="1600" b="1" dirty="0" err="1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pode</a:t>
            </a:r>
            <a:r>
              <a:rPr lang="en-US" sz="1600" b="1" dirty="0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 </a:t>
            </a:r>
            <a:r>
              <a:rPr lang="en-US" sz="1600" b="1" dirty="0" err="1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priorizar</a:t>
            </a:r>
            <a:r>
              <a:rPr lang="en-US" sz="1600" b="1" dirty="0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 o </a:t>
            </a:r>
            <a:r>
              <a:rPr lang="en-US" sz="1600" b="1" dirty="0" err="1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formato</a:t>
            </a:r>
            <a:r>
              <a:rPr lang="en-US" sz="1600" b="1" dirty="0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 do </a:t>
            </a:r>
            <a:r>
              <a:rPr lang="en-US" sz="1600" b="1" dirty="0" err="1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exemplo</a:t>
            </a:r>
            <a:r>
              <a:rPr lang="en-US" sz="1600" b="1" dirty="0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 </a:t>
            </a:r>
            <a:r>
              <a:rPr lang="en-US" sz="1600" b="1" dirty="0" err="1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sobre</a:t>
            </a:r>
            <a:r>
              <a:rPr lang="en-US" sz="1600" b="1" dirty="0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 o </a:t>
            </a:r>
            <a:r>
              <a:rPr lang="en-US" sz="1600" b="1" dirty="0" err="1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contexto</a:t>
            </a:r>
            <a:r>
              <a:rPr lang="en-US" sz="1600" b="1" dirty="0">
                <a:solidFill>
                  <a:srgbClr val="494D6A"/>
                </a:solidFill>
                <a:latin typeface="Inter" panose="020B0604020202020204" charset="0"/>
                <a:ea typeface="Inter" panose="020B0604020202020204" charset="0"/>
                <a:cs typeface="Rajdhani" panose="020B0604020202020204" charset="0"/>
              </a:rPr>
              <a:t> real</a:t>
            </a:r>
          </a:p>
        </p:txBody>
      </p:sp>
      <p:sp>
        <p:nvSpPr>
          <p:cNvPr id="19" name="Google Shape;58;p5">
            <a:extLst>
              <a:ext uri="{FF2B5EF4-FFF2-40B4-BE49-F238E27FC236}">
                <a16:creationId xmlns:a16="http://schemas.microsoft.com/office/drawing/2014/main" id="{7742BF80-E6DB-B9BF-DFF4-D2CE15DEF2A5}"/>
              </a:ext>
            </a:extLst>
          </p:cNvPr>
          <p:cNvSpPr/>
          <p:nvPr/>
        </p:nvSpPr>
        <p:spPr>
          <a:xfrm>
            <a:off x="411480" y="2011130"/>
            <a:ext cx="128100" cy="128100"/>
          </a:xfrm>
          <a:prstGeom prst="ellipse">
            <a:avLst/>
          </a:prstGeom>
          <a:solidFill>
            <a:srgbClr val="494D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sz="1600"/>
          </a:p>
        </p:txBody>
      </p:sp>
      <p:sp>
        <p:nvSpPr>
          <p:cNvPr id="21" name="Google Shape;58;p5">
            <a:extLst>
              <a:ext uri="{FF2B5EF4-FFF2-40B4-BE49-F238E27FC236}">
                <a16:creationId xmlns:a16="http://schemas.microsoft.com/office/drawing/2014/main" id="{FB382676-D661-95C8-B932-A8A3601C310E}"/>
              </a:ext>
            </a:extLst>
          </p:cNvPr>
          <p:cNvSpPr/>
          <p:nvPr/>
        </p:nvSpPr>
        <p:spPr>
          <a:xfrm>
            <a:off x="385425" y="2978870"/>
            <a:ext cx="128100" cy="128100"/>
          </a:xfrm>
          <a:prstGeom prst="ellipse">
            <a:avLst/>
          </a:prstGeom>
          <a:solidFill>
            <a:srgbClr val="494D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sz="1600"/>
          </a:p>
        </p:txBody>
      </p:sp>
      <p:sp>
        <p:nvSpPr>
          <p:cNvPr id="23" name="Google Shape;58;p5">
            <a:extLst>
              <a:ext uri="{FF2B5EF4-FFF2-40B4-BE49-F238E27FC236}">
                <a16:creationId xmlns:a16="http://schemas.microsoft.com/office/drawing/2014/main" id="{803BC6A2-DE43-9215-4C3F-CE68B9154F08}"/>
              </a:ext>
            </a:extLst>
          </p:cNvPr>
          <p:cNvSpPr/>
          <p:nvPr/>
        </p:nvSpPr>
        <p:spPr>
          <a:xfrm>
            <a:off x="6065310" y="2978870"/>
            <a:ext cx="128100" cy="128100"/>
          </a:xfrm>
          <a:prstGeom prst="ellipse">
            <a:avLst/>
          </a:prstGeom>
          <a:solidFill>
            <a:srgbClr val="494D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sz="1600"/>
          </a:p>
        </p:txBody>
      </p:sp>
      <p:sp>
        <p:nvSpPr>
          <p:cNvPr id="25" name="Google Shape;58;p5">
            <a:extLst>
              <a:ext uri="{FF2B5EF4-FFF2-40B4-BE49-F238E27FC236}">
                <a16:creationId xmlns:a16="http://schemas.microsoft.com/office/drawing/2014/main" id="{8B894C93-A918-114B-DD74-C87B10F31619}"/>
              </a:ext>
            </a:extLst>
          </p:cNvPr>
          <p:cNvSpPr/>
          <p:nvPr/>
        </p:nvSpPr>
        <p:spPr>
          <a:xfrm>
            <a:off x="6062430" y="1988270"/>
            <a:ext cx="128100" cy="128100"/>
          </a:xfrm>
          <a:prstGeom prst="ellipse">
            <a:avLst/>
          </a:prstGeom>
          <a:solidFill>
            <a:srgbClr val="494D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F2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875520" y="4114800"/>
            <a:ext cx="3657600" cy="3657600"/>
          </a:xfrm>
          <a:prstGeom prst="ellipse">
            <a:avLst/>
          </a:prstGeom>
          <a:solidFill>
            <a:srgbClr val="1C7293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0" y="237744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</a:t>
            </a: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- O Desafio Gilded Rose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0" y="39319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0" y="60350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una">
  <a:themeElements>
    <a:clrScheme name="Duna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7</TotalTime>
  <Words>1106</Words>
  <Application>Microsoft Office PowerPoint</Application>
  <PresentationFormat>Widescreen</PresentationFormat>
  <Paragraphs>180</Paragraphs>
  <Slides>15</Slides>
  <Notes>13</Notes>
  <HiddenSlides>3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</vt:lpstr>
      <vt:lpstr>Inter</vt:lpstr>
      <vt:lpstr>Neue Haas Grotesk Text Pro</vt:lpstr>
      <vt:lpstr>Rajdhani</vt:lpstr>
      <vt:lpstr>Duna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Gustavo Prehl</cp:lastModifiedBy>
  <cp:revision>3</cp:revision>
  <dcterms:created xsi:type="dcterms:W3CDTF">2026-09-01T01:57:41Z</dcterms:created>
  <dcterms:modified xsi:type="dcterms:W3CDTF">2026-09-01T12:06:30Z</dcterms:modified>
</cp:coreProperties>
</file>